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 — Introduce the project and team. Explain that ClaimIQ combines claims workflow management with AI-assisted policy search.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 — Explain the operational problem and how the system combines structured claim tracking with policy retrieval.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1:10 — Walk from user interfaces to FastAPI, then the database and Azure RAG services. Clarify this is a logical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 Describe login, claim creation, assignment, status justification, notes, and history. Use the ₹25,000 hospitalization scenario.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 Explain the main database tables by grouping user/policy/claim data, history/notes/audit, and document/RAG logs.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1:15 — Explain RAG step by step: upload, extract, chunk, embed, index, retrieve, generate. Emphasize that AI is decision support.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 Distinguish Swagger as API testing from Streamlit as an analytics dashboard.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 Give the concrete example claim and read the AI question. Describe what the workflow validates without claiming approval.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 Summarize benefits and scope boundaries.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0:20 — Thank the audience and invite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365C"/>
        </a:solidFill>
        <a:effectLst/>
      </p:bgPr>
    </p:bg>
    <p:spTree>
      <p:nvGrpSpPr>
        <p:cNvPr id="1" name=""/>
        <p:cNvGrpSpPr/>
        <p:nvPr/>
      </p:nvGrpSpPr>
      <p:grpSpPr/>
      <p:sp>
        <p:nvSpPr>
          <p:cNvPr id="2" name="Rectangle 1"/>
          <p:cNvSpPr/>
          <p:nvPr/>
        </p:nvSpPr>
        <p:spPr>
          <a:xfrm>
            <a:off x="9052560" y="0"/>
            <a:ext cx="3136392" cy="6858000"/>
          </a:xfrm>
          <a:prstGeom prst="rect">
            <a:avLst/>
          </a:prstGeom>
          <a:solidFill>
            <a:srgbClr val="1843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738360" y="0"/>
            <a:ext cx="2450592" cy="6858000"/>
          </a:xfrm>
          <a:prstGeom prst="rect">
            <a:avLst/>
          </a:prstGeom>
          <a:solidFill>
            <a:srgbClr val="0069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652760" y="0"/>
            <a:ext cx="1536192" cy="6858000"/>
          </a:xfrm>
          <a:prstGeom prst="rect">
            <a:avLst/>
          </a:prstGeom>
          <a:solidFill>
            <a:srgbClr val="0080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051560"/>
            <a:ext cx="8046720" cy="822960"/>
          </a:xfrm>
          <a:prstGeom prst="rect">
            <a:avLst/>
          </a:prstGeom>
          <a:noFill/>
        </p:spPr>
        <p:txBody>
          <a:bodyPr wrap="square" lIns="54864" rIns="54864" tIns="36576" bIns="18288">
            <a:spAutoFit/>
          </a:bodyPr>
          <a:lstStyle/>
          <a:p>
            <a:pPr>
              <a:defRPr sz="3800" b="1">
                <a:solidFill>
                  <a:srgbClr val="FFFFFF"/>
                </a:solidFill>
                <a:latin typeface="Aptos"/>
              </a:defRPr>
            </a:pPr>
            <a:r>
              <a:t>ClaimIQ</a:t>
            </a:r>
          </a:p>
        </p:txBody>
      </p:sp>
      <p:sp>
        <p:nvSpPr>
          <p:cNvPr id="6" name="TextBox 5"/>
          <p:cNvSpPr txBox="1"/>
          <p:nvPr/>
        </p:nvSpPr>
        <p:spPr>
          <a:xfrm>
            <a:off x="804672" y="1920240"/>
            <a:ext cx="8046720" cy="640080"/>
          </a:xfrm>
          <a:prstGeom prst="rect">
            <a:avLst/>
          </a:prstGeom>
          <a:noFill/>
        </p:spPr>
        <p:txBody>
          <a:bodyPr wrap="square" lIns="54864" rIns="54864" tIns="36576" bIns="18288">
            <a:spAutoFit/>
          </a:bodyPr>
          <a:lstStyle/>
          <a:p>
            <a:pPr>
              <a:defRPr sz="2200" b="1">
                <a:solidFill>
                  <a:srgbClr val="C6E2EE"/>
                </a:solidFill>
                <a:latin typeface="Aptos"/>
              </a:defRPr>
            </a:pPr>
            <a:r>
              <a:t>Claims Management &amp; AI-Assisted Policy Search</a:t>
            </a:r>
          </a:p>
        </p:txBody>
      </p:sp>
      <p:sp>
        <p:nvSpPr>
          <p:cNvPr id="7" name="TextBox 6"/>
          <p:cNvSpPr txBox="1"/>
          <p:nvPr/>
        </p:nvSpPr>
        <p:spPr>
          <a:xfrm>
            <a:off x="822960" y="2880360"/>
            <a:ext cx="7223760" cy="822960"/>
          </a:xfrm>
          <a:prstGeom prst="rect">
            <a:avLst/>
          </a:prstGeom>
          <a:noFill/>
        </p:spPr>
        <p:txBody>
          <a:bodyPr wrap="square" lIns="54864" rIns="54864" tIns="36576" bIns="18288">
            <a:spAutoFit/>
          </a:bodyPr>
          <a:lstStyle/>
          <a:p>
            <a:pPr>
              <a:defRPr sz="1600" b="0">
                <a:solidFill>
                  <a:srgbClr val="FFFFFF"/>
                </a:solidFill>
                <a:latin typeface="Aptos"/>
              </a:defRPr>
            </a:pPr>
            <a:r>
              <a:t>Project Overview • Architecture • Workflow • RAG</a:t>
            </a:r>
          </a:p>
        </p:txBody>
      </p:sp>
      <p:sp>
        <p:nvSpPr>
          <p:cNvPr id="8" name="TextBox 7"/>
          <p:cNvSpPr txBox="1"/>
          <p:nvPr/>
        </p:nvSpPr>
        <p:spPr>
          <a:xfrm>
            <a:off x="822960" y="4754880"/>
            <a:ext cx="7132320" cy="731520"/>
          </a:xfrm>
          <a:prstGeom prst="rect">
            <a:avLst/>
          </a:prstGeom>
          <a:noFill/>
        </p:spPr>
        <p:txBody>
          <a:bodyPr wrap="square" lIns="54864" rIns="54864" tIns="36576" bIns="18288">
            <a:spAutoFit/>
          </a:bodyPr>
          <a:lstStyle/>
          <a:p>
            <a:pPr>
              <a:defRPr sz="1700" b="1">
                <a:solidFill>
                  <a:srgbClr val="FFFFFF"/>
                </a:solidFill>
                <a:latin typeface="Aptos"/>
              </a:defRPr>
            </a:pPr>
            <a:r>
              <a:t>TEAM MEMBERS</a:t>
            </a:r>
            <a:br/>
            <a:r>
              <a:t>Praneetha  |  Segu  |  Tasmiya  |  Karthik</a:t>
            </a:r>
          </a:p>
        </p:txBody>
      </p:sp>
      <p:sp>
        <p:nvSpPr>
          <p:cNvPr id="9" name="TextBox 8"/>
          <p:cNvSpPr txBox="1"/>
          <p:nvPr/>
        </p:nvSpPr>
        <p:spPr>
          <a:xfrm>
            <a:off x="822960" y="6172200"/>
            <a:ext cx="7040880" cy="274320"/>
          </a:xfrm>
          <a:prstGeom prst="rect">
            <a:avLst/>
          </a:prstGeom>
          <a:noFill/>
        </p:spPr>
        <p:txBody>
          <a:bodyPr wrap="square" lIns="54864" rIns="54864" tIns="36576" bIns="18288">
            <a:spAutoFit/>
          </a:bodyPr>
          <a:lstStyle/>
          <a:p>
            <a:pPr>
              <a:defRPr sz="1100" b="0">
                <a:solidFill>
                  <a:srgbClr val="C6E2EE"/>
                </a:solidFill>
                <a:latin typeface="Aptos"/>
              </a:defRPr>
            </a:pPr>
            <a:r>
              <a:t>10-minute project presentation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55680" cy="475488"/>
          </a:xfrm>
          <a:prstGeom prst="rect">
            <a:avLst/>
          </a:prstGeom>
          <a:noFill/>
        </p:spPr>
        <p:txBody>
          <a:bodyPr wrap="square" lIns="54864" rIns="54864" tIns="36576" bIns="18288">
            <a:spAutoFit/>
          </a:bodyPr>
          <a:lstStyle/>
          <a:p>
            <a:pPr>
              <a:defRPr sz="2700" b="1">
                <a:solidFill>
                  <a:srgbClr val="14365C"/>
                </a:solidFill>
                <a:latin typeface="Aptos"/>
              </a:defRPr>
            </a:pPr>
            <a:r>
              <a:t>1. Project Purpose</a:t>
            </a:r>
          </a:p>
        </p:txBody>
      </p:sp>
      <p:sp>
        <p:nvSpPr>
          <p:cNvPr id="3" name="Rectangle 2"/>
          <p:cNvSpPr/>
          <p:nvPr/>
        </p:nvSpPr>
        <p:spPr>
          <a:xfrm>
            <a:off x="530352" y="850392"/>
            <a:ext cx="960120" cy="54864"/>
          </a:xfrm>
          <a:prstGeom prst="rect">
            <a:avLst/>
          </a:prstGeom>
          <a:solidFill>
            <a:srgbClr val="0080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960120"/>
            <a:ext cx="11064240" cy="320040"/>
          </a:xfrm>
          <a:prstGeom prst="rect">
            <a:avLst/>
          </a:prstGeom>
          <a:noFill/>
        </p:spPr>
        <p:txBody>
          <a:bodyPr wrap="square" lIns="54864" rIns="54864" tIns="36576" bIns="18288">
            <a:spAutoFit/>
          </a:bodyPr>
          <a:lstStyle/>
          <a:p>
            <a:pPr>
              <a:defRPr sz="1100" b="0">
                <a:solidFill>
                  <a:srgbClr val="697582"/>
                </a:solidFill>
                <a:latin typeface="Aptos"/>
              </a:defRPr>
            </a:pPr>
            <a:r>
              <a:t>A single workflow for claim tracking and policy-informed review</a:t>
            </a:r>
          </a:p>
        </p:txBody>
      </p:sp>
      <p:sp>
        <p:nvSpPr>
          <p:cNvPr id="5" name="TextBox 4"/>
          <p:cNvSpPr txBox="1"/>
          <p:nvPr/>
        </p:nvSpPr>
        <p:spPr>
          <a:xfrm>
            <a:off x="11292840" y="6510528"/>
            <a:ext cx="365760" cy="182880"/>
          </a:xfrm>
          <a:prstGeom prst="rect">
            <a:avLst/>
          </a:prstGeom>
          <a:noFill/>
        </p:spPr>
        <p:txBody>
          <a:bodyPr wrap="square" lIns="54864" rIns="54864" tIns="36576" bIns="18288">
            <a:spAutoFit/>
          </a:bodyPr>
          <a:lstStyle/>
          <a:p>
            <a:pPr algn="r">
              <a:defRPr sz="900" b="0">
                <a:solidFill>
                  <a:srgbClr val="697582"/>
                </a:solidFill>
                <a:latin typeface="Aptos"/>
              </a:defRPr>
            </a:pPr>
            <a:r>
              <a:t>2</a:t>
            </a:r>
          </a:p>
        </p:txBody>
      </p:sp>
      <p:sp>
        <p:nvSpPr>
          <p:cNvPr id="6" name="Rounded Rectangle 5"/>
          <p:cNvSpPr/>
          <p:nvPr/>
        </p:nvSpPr>
        <p:spPr>
          <a:xfrm>
            <a:off x="640080" y="1508760"/>
            <a:ext cx="5303520" cy="1828800"/>
          </a:xfrm>
          <a:prstGeom prst="roundRect">
            <a:avLst/>
          </a:prstGeom>
          <a:solidFill>
            <a:srgbClr val="E8F2F8"/>
          </a:solidFill>
          <a:ln>
            <a:solidFill>
              <a:srgbClr val="E8F2F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91440"/>
          <a:lstStyle/>
          <a:p>
            <a:pPr algn="ctr">
              <a:spcAft>
                <a:spcPts val="700"/>
              </a:spcAft>
              <a:defRPr sz="1700" b="1">
                <a:solidFill>
                  <a:srgbClr val="14365C"/>
                </a:solidFill>
                <a:latin typeface="Aptos Display"/>
              </a:defRPr>
            </a:pPr>
            <a:r>
              <a:t>The challenge</a:t>
            </a:r>
          </a:p>
          <a:p>
            <a:pPr>
              <a:defRPr sz="1500">
                <a:solidFill>
                  <a:srgbClr val="2D3748"/>
                </a:solidFill>
                <a:latin typeface="Aptos"/>
              </a:defRPr>
            </a:pPr>
            <a:r>
              <a:t>Claim reviews involve claim details, assignments, status changes, supporting notes, and policy documents that must be checked.</a:t>
            </a:r>
          </a:p>
        </p:txBody>
      </p:sp>
      <p:sp>
        <p:nvSpPr>
          <p:cNvPr id="7" name="Rounded Rectangle 6"/>
          <p:cNvSpPr/>
          <p:nvPr/>
        </p:nvSpPr>
        <p:spPr>
          <a:xfrm>
            <a:off x="6263640" y="1508760"/>
            <a:ext cx="5303520" cy="1828800"/>
          </a:xfrm>
          <a:prstGeom prst="roundRect">
            <a:avLst/>
          </a:prstGeom>
          <a:solidFill>
            <a:srgbClr val="DCEFE9"/>
          </a:solidFill>
          <a:ln>
            <a:solidFill>
              <a:srgbClr val="DCEFE9"/>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91440"/>
          <a:lstStyle/>
          <a:p>
            <a:pPr algn="ctr">
              <a:spcAft>
                <a:spcPts val="700"/>
              </a:spcAft>
              <a:defRPr sz="1700" b="1">
                <a:solidFill>
                  <a:srgbClr val="14365C"/>
                </a:solidFill>
                <a:latin typeface="Aptos Display"/>
              </a:defRPr>
            </a:pPr>
            <a:r>
              <a:t>The ClaimIQ approach</a:t>
            </a:r>
          </a:p>
          <a:p>
            <a:pPr>
              <a:defRPr sz="1500">
                <a:solidFill>
                  <a:srgbClr val="2D3748"/>
                </a:solidFill>
                <a:latin typeface="Aptos"/>
              </a:defRPr>
            </a:pPr>
            <a:r>
              <a:t>Manage the claim lifecycle through APIs and use AI-assisted retrieval to find relevant policy information for reviewer assessment.</a:t>
            </a:r>
          </a:p>
        </p:txBody>
      </p:sp>
      <p:sp>
        <p:nvSpPr>
          <p:cNvPr id="8" name="TextBox 7"/>
          <p:cNvSpPr txBox="1"/>
          <p:nvPr/>
        </p:nvSpPr>
        <p:spPr>
          <a:xfrm>
            <a:off x="868680" y="3794760"/>
            <a:ext cx="10515600" cy="1920240"/>
          </a:xfrm>
          <a:prstGeom prst="rect">
            <a:avLst/>
          </a:prstGeom>
          <a:noFill/>
        </p:spPr>
        <p:txBody>
          <a:bodyPr wrap="square" lIns="73152" rIns="45720" tIns="36576">
            <a:spAutoFit/>
          </a:bodyPr>
          <a:lstStyle/>
          <a:p>
            <a:pPr>
              <a:spcAft>
                <a:spcPts val="1200"/>
              </a:spcAft>
              <a:defRPr sz="1700">
                <a:solidFill>
                  <a:srgbClr val="2D3748"/>
                </a:solidFill>
                <a:latin typeface="Aptos"/>
              </a:defRPr>
            </a:pPr>
            <a:r>
              <a:t>Claims are stored and tracked in PostgreSQL.</a:t>
            </a:r>
          </a:p>
          <a:p>
            <a:pPr>
              <a:spcAft>
                <a:spcPts val="1200"/>
              </a:spcAft>
              <a:defRPr sz="1700">
                <a:solidFill>
                  <a:srgbClr val="2D3748"/>
                </a:solidFill>
                <a:latin typeface="Aptos"/>
              </a:defRPr>
            </a:pPr>
            <a:r>
              <a:t>Swagger UI allows API testing without building a separate client.</a:t>
            </a:r>
          </a:p>
          <a:p>
            <a:pPr>
              <a:spcAft>
                <a:spcPts val="1200"/>
              </a:spcAft>
              <a:defRPr sz="1700">
                <a:solidFill>
                  <a:srgbClr val="2D3748"/>
                </a:solidFill>
                <a:latin typeface="Aptos"/>
              </a:defRPr>
            </a:pPr>
            <a:r>
              <a:t>Policy documents can be processed and queried through the RAG workflow.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55680" cy="475488"/>
          </a:xfrm>
          <a:prstGeom prst="rect">
            <a:avLst/>
          </a:prstGeom>
          <a:noFill/>
        </p:spPr>
        <p:txBody>
          <a:bodyPr wrap="square" lIns="54864" rIns="54864" tIns="36576" bIns="18288">
            <a:spAutoFit/>
          </a:bodyPr>
          <a:lstStyle/>
          <a:p>
            <a:pPr>
              <a:defRPr sz="2700" b="1">
                <a:solidFill>
                  <a:srgbClr val="14365C"/>
                </a:solidFill>
                <a:latin typeface="Aptos"/>
              </a:defRPr>
            </a:pPr>
            <a:r>
              <a:t>2. Solution Architecture</a:t>
            </a:r>
          </a:p>
        </p:txBody>
      </p:sp>
      <p:sp>
        <p:nvSpPr>
          <p:cNvPr id="3" name="Rectangle 2"/>
          <p:cNvSpPr/>
          <p:nvPr/>
        </p:nvSpPr>
        <p:spPr>
          <a:xfrm>
            <a:off x="530352" y="850392"/>
            <a:ext cx="960120" cy="54864"/>
          </a:xfrm>
          <a:prstGeom prst="rect">
            <a:avLst/>
          </a:prstGeom>
          <a:solidFill>
            <a:srgbClr val="0080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960120"/>
            <a:ext cx="11064240" cy="320040"/>
          </a:xfrm>
          <a:prstGeom prst="rect">
            <a:avLst/>
          </a:prstGeom>
          <a:noFill/>
        </p:spPr>
        <p:txBody>
          <a:bodyPr wrap="square" lIns="54864" rIns="54864" tIns="36576" bIns="18288">
            <a:spAutoFit/>
          </a:bodyPr>
          <a:lstStyle/>
          <a:p>
            <a:pPr>
              <a:defRPr sz="1100" b="0">
                <a:solidFill>
                  <a:srgbClr val="697582"/>
                </a:solidFill>
                <a:latin typeface="Aptos"/>
              </a:defRPr>
            </a:pPr>
            <a:r>
              <a:t>Logical view of the application components and request flow</a:t>
            </a:r>
          </a:p>
        </p:txBody>
      </p:sp>
      <p:sp>
        <p:nvSpPr>
          <p:cNvPr id="5" name="TextBox 4"/>
          <p:cNvSpPr txBox="1"/>
          <p:nvPr/>
        </p:nvSpPr>
        <p:spPr>
          <a:xfrm>
            <a:off x="11292840" y="6510528"/>
            <a:ext cx="365760" cy="182880"/>
          </a:xfrm>
          <a:prstGeom prst="rect">
            <a:avLst/>
          </a:prstGeom>
          <a:noFill/>
        </p:spPr>
        <p:txBody>
          <a:bodyPr wrap="square" lIns="54864" rIns="54864" tIns="36576" bIns="18288">
            <a:spAutoFit/>
          </a:bodyPr>
          <a:lstStyle/>
          <a:p>
            <a:pPr algn="r">
              <a:defRPr sz="900" b="0">
                <a:solidFill>
                  <a:srgbClr val="697582"/>
                </a:solidFill>
                <a:latin typeface="Aptos"/>
              </a:defRPr>
            </a:pPr>
            <a:r>
              <a:t>3</a:t>
            </a:r>
          </a:p>
        </p:txBody>
      </p:sp>
      <p:sp>
        <p:nvSpPr>
          <p:cNvPr id="6" name="Rounded Rectangle 5"/>
          <p:cNvSpPr/>
          <p:nvPr/>
        </p:nvSpPr>
        <p:spPr>
          <a:xfrm>
            <a:off x="594360" y="1417320"/>
            <a:ext cx="3246120" cy="960120"/>
          </a:xfrm>
          <a:prstGeom prst="roundRect">
            <a:avLst/>
          </a:prstGeom>
          <a:solidFill>
            <a:srgbClr val="E8F2F8"/>
          </a:solidFill>
          <a:ln>
            <a:solidFill>
              <a:srgbClr val="E8F2F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91440"/>
          <a:lstStyle/>
          <a:p>
            <a:pPr algn="ctr">
              <a:spcAft>
                <a:spcPts val="700"/>
              </a:spcAft>
              <a:defRPr sz="1500" b="1">
                <a:solidFill>
                  <a:srgbClr val="14365C"/>
                </a:solidFill>
                <a:latin typeface="Aptos Display"/>
              </a:defRPr>
            </a:pPr>
            <a:r>
              <a:t>Users</a:t>
            </a:r>
          </a:p>
          <a:p>
            <a:pPr>
              <a:defRPr sz="1200">
                <a:solidFill>
                  <a:srgbClr val="2D3748"/>
                </a:solidFill>
                <a:latin typeface="Aptos"/>
              </a:defRPr>
            </a:pPr>
            <a:r>
              <a:t>Customer • Reviewer • Adjuster</a:t>
            </a:r>
          </a:p>
        </p:txBody>
      </p:sp>
      <p:sp>
        <p:nvSpPr>
          <p:cNvPr id="7" name="Rounded Rectangle 6"/>
          <p:cNvSpPr/>
          <p:nvPr/>
        </p:nvSpPr>
        <p:spPr>
          <a:xfrm>
            <a:off x="4480560" y="1417320"/>
            <a:ext cx="3246120" cy="960120"/>
          </a:xfrm>
          <a:prstGeom prst="roundRect">
            <a:avLst/>
          </a:prstGeom>
          <a:solidFill>
            <a:srgbClr val="E8F2F8"/>
          </a:solidFill>
          <a:ln>
            <a:solidFill>
              <a:srgbClr val="E8F2F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91440"/>
          <a:lstStyle/>
          <a:p>
            <a:pPr algn="ctr">
              <a:spcAft>
                <a:spcPts val="700"/>
              </a:spcAft>
              <a:defRPr sz="1500" b="1">
                <a:solidFill>
                  <a:srgbClr val="14365C"/>
                </a:solidFill>
                <a:latin typeface="Aptos Display"/>
              </a:defRPr>
            </a:pPr>
            <a:r>
              <a:t>Swagger UI</a:t>
            </a:r>
          </a:p>
          <a:p>
            <a:pPr>
              <a:defRPr sz="1200">
                <a:solidFill>
                  <a:srgbClr val="2D3748"/>
                </a:solidFill>
                <a:latin typeface="Aptos"/>
              </a:defRPr>
            </a:pPr>
            <a:r>
              <a:t>API testing and validation</a:t>
            </a:r>
          </a:p>
        </p:txBody>
      </p:sp>
      <p:sp>
        <p:nvSpPr>
          <p:cNvPr id="8" name="Rounded Rectangle 7"/>
          <p:cNvSpPr/>
          <p:nvPr/>
        </p:nvSpPr>
        <p:spPr>
          <a:xfrm>
            <a:off x="8366760" y="1417320"/>
            <a:ext cx="3246120" cy="960120"/>
          </a:xfrm>
          <a:prstGeom prst="roundRect">
            <a:avLst/>
          </a:prstGeom>
          <a:solidFill>
            <a:srgbClr val="E8F2F8"/>
          </a:solidFill>
          <a:ln>
            <a:solidFill>
              <a:srgbClr val="E8F2F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91440"/>
          <a:lstStyle/>
          <a:p>
            <a:pPr algn="ctr">
              <a:spcAft>
                <a:spcPts val="700"/>
              </a:spcAft>
              <a:defRPr sz="1500" b="1">
                <a:solidFill>
                  <a:srgbClr val="14365C"/>
                </a:solidFill>
                <a:latin typeface="Aptos Display"/>
              </a:defRPr>
            </a:pPr>
            <a:r>
              <a:t>Streamlit dashboard</a:t>
            </a:r>
          </a:p>
          <a:p>
            <a:pPr>
              <a:defRPr sz="1200">
                <a:solidFill>
                  <a:srgbClr val="2D3748"/>
                </a:solidFill>
                <a:latin typeface="Aptos"/>
              </a:defRPr>
            </a:pPr>
            <a:r>
              <a:t>Claim analytics via FastAPI</a:t>
            </a:r>
          </a:p>
        </p:txBody>
      </p:sp>
      <p:sp>
        <p:nvSpPr>
          <p:cNvPr id="9" name="TextBox 8"/>
          <p:cNvSpPr txBox="1"/>
          <p:nvPr/>
        </p:nvSpPr>
        <p:spPr>
          <a:xfrm>
            <a:off x="4754880" y="2450592"/>
            <a:ext cx="2651760" cy="274320"/>
          </a:xfrm>
          <a:prstGeom prst="rect">
            <a:avLst/>
          </a:prstGeom>
          <a:noFill/>
        </p:spPr>
        <p:txBody>
          <a:bodyPr wrap="square" lIns="54864" rIns="54864" tIns="36576" bIns="18288">
            <a:spAutoFit/>
          </a:bodyPr>
          <a:lstStyle/>
          <a:p>
            <a:pPr algn="ctr">
              <a:defRPr sz="1100" b="1">
                <a:solidFill>
                  <a:srgbClr val="008096"/>
                </a:solidFill>
                <a:latin typeface="Aptos"/>
              </a:defRPr>
            </a:pPr>
            <a:r>
              <a:t>↓ Authenticated API requests</a:t>
            </a:r>
          </a:p>
        </p:txBody>
      </p:sp>
      <p:sp>
        <p:nvSpPr>
          <p:cNvPr id="10" name="Rounded Rectangle 9"/>
          <p:cNvSpPr/>
          <p:nvPr/>
        </p:nvSpPr>
        <p:spPr>
          <a:xfrm>
            <a:off x="3246120" y="2788920"/>
            <a:ext cx="5669280" cy="822960"/>
          </a:xfrm>
          <a:prstGeom prst="roundRect">
            <a:avLst/>
          </a:prstGeom>
          <a:solidFill>
            <a:srgbClr val="DCEFE9"/>
          </a:solidFill>
          <a:ln>
            <a:solidFill>
              <a:srgbClr val="DCEFE9"/>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91440"/>
          <a:lstStyle/>
          <a:p>
            <a:pPr algn="ctr">
              <a:spcAft>
                <a:spcPts val="700"/>
              </a:spcAft>
              <a:defRPr sz="1500" b="1">
                <a:solidFill>
                  <a:srgbClr val="14365C"/>
                </a:solidFill>
                <a:latin typeface="Aptos Display"/>
              </a:defRPr>
            </a:pPr>
            <a:r>
              <a:t>FastAPI backend</a:t>
            </a:r>
          </a:p>
          <a:p>
            <a:pPr>
              <a:defRPr sz="1200">
                <a:solidFill>
                  <a:srgbClr val="2D3748"/>
                </a:solidFill>
                <a:latin typeface="Aptos"/>
              </a:defRPr>
            </a:pPr>
            <a:r>
              <a:t>Authentication • Claims • Workflow • Notes • Analytics • Documents • AI query</a:t>
            </a:r>
          </a:p>
        </p:txBody>
      </p:sp>
      <p:sp>
        <p:nvSpPr>
          <p:cNvPr id="11" name="TextBox 10"/>
          <p:cNvSpPr txBox="1"/>
          <p:nvPr/>
        </p:nvSpPr>
        <p:spPr>
          <a:xfrm>
            <a:off x="4754880" y="3675887"/>
            <a:ext cx="2651760" cy="228600"/>
          </a:xfrm>
          <a:prstGeom prst="rect">
            <a:avLst/>
          </a:prstGeom>
          <a:noFill/>
        </p:spPr>
        <p:txBody>
          <a:bodyPr wrap="square" lIns="54864" rIns="54864" tIns="36576" bIns="18288">
            <a:spAutoFit/>
          </a:bodyPr>
          <a:lstStyle/>
          <a:p>
            <a:pPr algn="ctr">
              <a:defRPr sz="1600" b="1">
                <a:solidFill>
                  <a:srgbClr val="008096"/>
                </a:solidFill>
                <a:latin typeface="Aptos"/>
              </a:defRPr>
            </a:pPr>
            <a:r>
              <a:t>↓</a:t>
            </a:r>
          </a:p>
        </p:txBody>
      </p:sp>
      <p:sp>
        <p:nvSpPr>
          <p:cNvPr id="12" name="Rounded Rectangle 11"/>
          <p:cNvSpPr/>
          <p:nvPr/>
        </p:nvSpPr>
        <p:spPr>
          <a:xfrm>
            <a:off x="594360" y="4069080"/>
            <a:ext cx="3474720" cy="914400"/>
          </a:xfrm>
          <a:prstGeom prst="roundRect">
            <a:avLst/>
          </a:prstGeom>
          <a:solidFill>
            <a:srgbClr val="FAEDCD"/>
          </a:solidFill>
          <a:ln>
            <a:solidFill>
              <a:srgbClr val="FAEDCD"/>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91440"/>
          <a:lstStyle/>
          <a:p>
            <a:pPr algn="ctr">
              <a:spcAft>
                <a:spcPts val="700"/>
              </a:spcAft>
              <a:defRPr sz="1400" b="1">
                <a:solidFill>
                  <a:srgbClr val="14365C"/>
                </a:solidFill>
                <a:latin typeface="Aptos Display"/>
              </a:defRPr>
            </a:pPr>
            <a:r>
              <a:t>PostgreSQL</a:t>
            </a:r>
          </a:p>
          <a:p>
            <a:pPr>
              <a:defRPr sz="1100">
                <a:solidFill>
                  <a:srgbClr val="2D3748"/>
                </a:solidFill>
                <a:latin typeface="Aptos"/>
              </a:defRPr>
            </a:pPr>
            <a:r>
              <a:t>Users, policies, claims, history, notes, documents metadata, logs</a:t>
            </a:r>
          </a:p>
        </p:txBody>
      </p:sp>
      <p:sp>
        <p:nvSpPr>
          <p:cNvPr id="13" name="Rounded Rectangle 12"/>
          <p:cNvSpPr/>
          <p:nvPr/>
        </p:nvSpPr>
        <p:spPr>
          <a:xfrm>
            <a:off x="4370832" y="4069080"/>
            <a:ext cx="3474720" cy="914400"/>
          </a:xfrm>
          <a:prstGeom prst="roundRect">
            <a:avLst/>
          </a:prstGeom>
          <a:solidFill>
            <a:srgbClr val="E8F2F8"/>
          </a:solidFill>
          <a:ln>
            <a:solidFill>
              <a:srgbClr val="E8F2F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91440"/>
          <a:lstStyle/>
          <a:p>
            <a:pPr algn="ctr">
              <a:spcAft>
                <a:spcPts val="700"/>
              </a:spcAft>
              <a:defRPr sz="1400" b="1">
                <a:solidFill>
                  <a:srgbClr val="14365C"/>
                </a:solidFill>
                <a:latin typeface="Aptos Display"/>
              </a:defRPr>
            </a:pPr>
            <a:r>
              <a:t>Azure Blob Storage</a:t>
            </a:r>
          </a:p>
          <a:p>
            <a:pPr>
              <a:defRPr sz="1100">
                <a:solidFill>
                  <a:srgbClr val="2D3748"/>
                </a:solidFill>
                <a:latin typeface="Aptos"/>
              </a:defRPr>
            </a:pPr>
            <a:r>
              <a:t>Source policy files</a:t>
            </a:r>
          </a:p>
        </p:txBody>
      </p:sp>
      <p:sp>
        <p:nvSpPr>
          <p:cNvPr id="14" name="Rounded Rectangle 13"/>
          <p:cNvSpPr/>
          <p:nvPr/>
        </p:nvSpPr>
        <p:spPr>
          <a:xfrm>
            <a:off x="8138160" y="4069080"/>
            <a:ext cx="3474720" cy="914400"/>
          </a:xfrm>
          <a:prstGeom prst="roundRect">
            <a:avLst/>
          </a:prstGeom>
          <a:solidFill>
            <a:srgbClr val="DCEFE9"/>
          </a:solidFill>
          <a:ln>
            <a:solidFill>
              <a:srgbClr val="DCEFE9"/>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91440"/>
          <a:lstStyle/>
          <a:p>
            <a:pPr algn="ctr">
              <a:spcAft>
                <a:spcPts val="700"/>
              </a:spcAft>
              <a:defRPr sz="1400" b="1">
                <a:solidFill>
                  <a:srgbClr val="14365C"/>
                </a:solidFill>
                <a:latin typeface="Aptos Display"/>
              </a:defRPr>
            </a:pPr>
            <a:r>
              <a:t>Azure AI Search</a:t>
            </a:r>
          </a:p>
          <a:p>
            <a:pPr>
              <a:defRPr sz="1100">
                <a:solidFill>
                  <a:srgbClr val="2D3748"/>
                </a:solidFill>
                <a:latin typeface="Aptos"/>
              </a:defRPr>
            </a:pPr>
            <a:r>
              <a:t>Indexed text chunks for retrieval</a:t>
            </a:r>
          </a:p>
        </p:txBody>
      </p:sp>
      <p:sp>
        <p:nvSpPr>
          <p:cNvPr id="15" name="TextBox 14"/>
          <p:cNvSpPr txBox="1"/>
          <p:nvPr/>
        </p:nvSpPr>
        <p:spPr>
          <a:xfrm>
            <a:off x="4160520" y="5166360"/>
            <a:ext cx="3749039" cy="228600"/>
          </a:xfrm>
          <a:prstGeom prst="rect">
            <a:avLst/>
          </a:prstGeom>
          <a:noFill/>
        </p:spPr>
        <p:txBody>
          <a:bodyPr wrap="square" lIns="54864" rIns="54864" tIns="36576" bIns="18288">
            <a:spAutoFit/>
          </a:bodyPr>
          <a:lstStyle/>
          <a:p>
            <a:pPr algn="ctr">
              <a:defRPr sz="1100" b="1">
                <a:solidFill>
                  <a:srgbClr val="008096"/>
                </a:solidFill>
                <a:latin typeface="Aptos"/>
              </a:defRPr>
            </a:pPr>
            <a:r>
              <a:t>Document processing + embeddings</a:t>
            </a:r>
          </a:p>
        </p:txBody>
      </p:sp>
      <p:sp>
        <p:nvSpPr>
          <p:cNvPr id="16" name="Rounded Rectangle 15"/>
          <p:cNvSpPr/>
          <p:nvPr/>
        </p:nvSpPr>
        <p:spPr>
          <a:xfrm>
            <a:off x="2834640" y="5486400"/>
            <a:ext cx="6537960" cy="685800"/>
          </a:xfrm>
          <a:prstGeom prst="roundRect">
            <a:avLst/>
          </a:prstGeom>
          <a:solidFill>
            <a:srgbClr val="F7E2E2"/>
          </a:solidFill>
          <a:ln>
            <a:solidFill>
              <a:srgbClr val="F7E2E2"/>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91440"/>
          <a:lstStyle/>
          <a:p>
            <a:pPr algn="ctr">
              <a:spcAft>
                <a:spcPts val="700"/>
              </a:spcAft>
              <a:defRPr sz="1400" b="1">
                <a:solidFill>
                  <a:srgbClr val="14365C"/>
                </a:solidFill>
                <a:latin typeface="Aptos Display"/>
              </a:defRPr>
            </a:pPr>
            <a:r>
              <a:t>Azure OpenAI</a:t>
            </a:r>
          </a:p>
          <a:p>
            <a:pPr>
              <a:defRPr sz="1100">
                <a:solidFill>
                  <a:srgbClr val="2D3748"/>
                </a:solidFill>
                <a:latin typeface="Aptos"/>
              </a:defRPr>
            </a:pPr>
            <a:r>
              <a:t>Embeddings for search • Answer generation using retrieved policy content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55680" cy="475488"/>
          </a:xfrm>
          <a:prstGeom prst="rect">
            <a:avLst/>
          </a:prstGeom>
          <a:noFill/>
        </p:spPr>
        <p:txBody>
          <a:bodyPr wrap="square" lIns="54864" rIns="54864" tIns="36576" bIns="18288">
            <a:spAutoFit/>
          </a:bodyPr>
          <a:lstStyle/>
          <a:p>
            <a:pPr>
              <a:defRPr sz="2700" b="1">
                <a:solidFill>
                  <a:srgbClr val="14365C"/>
                </a:solidFill>
                <a:latin typeface="Aptos"/>
              </a:defRPr>
            </a:pPr>
            <a:r>
              <a:t>3. Claims Management Workflow</a:t>
            </a:r>
          </a:p>
        </p:txBody>
      </p:sp>
      <p:sp>
        <p:nvSpPr>
          <p:cNvPr id="3" name="Rectangle 2"/>
          <p:cNvSpPr/>
          <p:nvPr/>
        </p:nvSpPr>
        <p:spPr>
          <a:xfrm>
            <a:off x="530352" y="850392"/>
            <a:ext cx="960120" cy="54864"/>
          </a:xfrm>
          <a:prstGeom prst="rect">
            <a:avLst/>
          </a:prstGeom>
          <a:solidFill>
            <a:srgbClr val="0080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960120"/>
            <a:ext cx="11064240" cy="320040"/>
          </a:xfrm>
          <a:prstGeom prst="rect">
            <a:avLst/>
          </a:prstGeom>
          <a:noFill/>
        </p:spPr>
        <p:txBody>
          <a:bodyPr wrap="square" lIns="54864" rIns="54864" tIns="36576" bIns="18288">
            <a:spAutoFit/>
          </a:bodyPr>
          <a:lstStyle/>
          <a:p>
            <a:pPr>
              <a:defRPr sz="1100" b="0">
                <a:solidFill>
                  <a:srgbClr val="697582"/>
                </a:solidFill>
                <a:latin typeface="Aptos"/>
              </a:defRPr>
            </a:pPr>
            <a:r>
              <a:t>From customer submission to adjuster review</a:t>
            </a:r>
          </a:p>
        </p:txBody>
      </p:sp>
      <p:sp>
        <p:nvSpPr>
          <p:cNvPr id="5" name="TextBox 4"/>
          <p:cNvSpPr txBox="1"/>
          <p:nvPr/>
        </p:nvSpPr>
        <p:spPr>
          <a:xfrm>
            <a:off x="11292840" y="6510528"/>
            <a:ext cx="365760" cy="182880"/>
          </a:xfrm>
          <a:prstGeom prst="rect">
            <a:avLst/>
          </a:prstGeom>
          <a:noFill/>
        </p:spPr>
        <p:txBody>
          <a:bodyPr wrap="square" lIns="54864" rIns="54864" tIns="36576" bIns="18288">
            <a:spAutoFit/>
          </a:bodyPr>
          <a:lstStyle/>
          <a:p>
            <a:pPr algn="r">
              <a:defRPr sz="900" b="0">
                <a:solidFill>
                  <a:srgbClr val="697582"/>
                </a:solidFill>
                <a:latin typeface="Aptos"/>
              </a:defRPr>
            </a:pPr>
            <a:r>
              <a:t>4</a:t>
            </a:r>
          </a:p>
        </p:txBody>
      </p:sp>
      <p:sp>
        <p:nvSpPr>
          <p:cNvPr id="6" name="Rounded Rectangle 5"/>
          <p:cNvSpPr/>
          <p:nvPr/>
        </p:nvSpPr>
        <p:spPr>
          <a:xfrm>
            <a:off x="640080" y="1554480"/>
            <a:ext cx="3429000" cy="1417320"/>
          </a:xfrm>
          <a:prstGeom prst="roundRect">
            <a:avLst/>
          </a:prstGeom>
          <a:solidFill>
            <a:srgbClr val="E8F2F8"/>
          </a:solidFill>
          <a:ln>
            <a:solidFill>
              <a:srgbClr val="E8F2F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91440"/>
          <a:lstStyle/>
          <a:p>
            <a:pPr algn="ctr">
              <a:spcAft>
                <a:spcPts val="700"/>
              </a:spcAft>
              <a:defRPr sz="1600" b="1">
                <a:solidFill>
                  <a:srgbClr val="14365C"/>
                </a:solidFill>
                <a:latin typeface="Aptos Display"/>
              </a:defRPr>
            </a:pPr>
            <a:r>
              <a:t>1. Login</a:t>
            </a:r>
          </a:p>
          <a:p>
            <a:pPr>
              <a:defRPr sz="1300">
                <a:solidFill>
                  <a:srgbClr val="2D3748"/>
                </a:solidFill>
                <a:latin typeface="Aptos"/>
              </a:defRPr>
            </a:pPr>
            <a:r>
              <a:t>Authenticate and obtain a token</a:t>
            </a:r>
          </a:p>
        </p:txBody>
      </p:sp>
      <p:sp>
        <p:nvSpPr>
          <p:cNvPr id="7" name="Rounded Rectangle 6"/>
          <p:cNvSpPr/>
          <p:nvPr/>
        </p:nvSpPr>
        <p:spPr>
          <a:xfrm>
            <a:off x="4526280" y="1554480"/>
            <a:ext cx="3429000" cy="1417320"/>
          </a:xfrm>
          <a:prstGeom prst="roundRect">
            <a:avLst/>
          </a:prstGeom>
          <a:solidFill>
            <a:srgbClr val="DCEFE9"/>
          </a:solidFill>
          <a:ln>
            <a:solidFill>
              <a:srgbClr val="DCEFE9"/>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91440"/>
          <a:lstStyle/>
          <a:p>
            <a:pPr algn="ctr">
              <a:spcAft>
                <a:spcPts val="700"/>
              </a:spcAft>
              <a:defRPr sz="1600" b="1">
                <a:solidFill>
                  <a:srgbClr val="14365C"/>
                </a:solidFill>
                <a:latin typeface="Aptos Display"/>
              </a:defRPr>
            </a:pPr>
            <a:r>
              <a:t>2. Create claim</a:t>
            </a:r>
          </a:p>
          <a:p>
            <a:pPr>
              <a:defRPr sz="1300">
                <a:solidFill>
                  <a:srgbClr val="2D3748"/>
                </a:solidFill>
                <a:latin typeface="Aptos"/>
              </a:defRPr>
            </a:pPr>
            <a:r>
              <a:t>Submit description and amount</a:t>
            </a:r>
          </a:p>
        </p:txBody>
      </p:sp>
      <p:sp>
        <p:nvSpPr>
          <p:cNvPr id="8" name="Rounded Rectangle 7"/>
          <p:cNvSpPr/>
          <p:nvPr/>
        </p:nvSpPr>
        <p:spPr>
          <a:xfrm>
            <a:off x="8412480" y="1554480"/>
            <a:ext cx="3429000" cy="1417320"/>
          </a:xfrm>
          <a:prstGeom prst="roundRect">
            <a:avLst/>
          </a:prstGeom>
          <a:solidFill>
            <a:srgbClr val="FAEDCD"/>
          </a:solidFill>
          <a:ln>
            <a:solidFill>
              <a:srgbClr val="FAEDCD"/>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91440"/>
          <a:lstStyle/>
          <a:p>
            <a:pPr algn="ctr">
              <a:spcAft>
                <a:spcPts val="700"/>
              </a:spcAft>
              <a:defRPr sz="1600" b="1">
                <a:solidFill>
                  <a:srgbClr val="14365C"/>
                </a:solidFill>
                <a:latin typeface="Aptos Display"/>
              </a:defRPr>
            </a:pPr>
            <a:r>
              <a:t>3. Assign adjuster</a:t>
            </a:r>
          </a:p>
          <a:p>
            <a:pPr>
              <a:defRPr sz="1300">
                <a:solidFill>
                  <a:srgbClr val="2D3748"/>
                </a:solidFill>
                <a:latin typeface="Aptos"/>
              </a:defRPr>
            </a:pPr>
            <a:r>
              <a:t>Route claim to an authorized reviewer</a:t>
            </a:r>
          </a:p>
        </p:txBody>
      </p:sp>
      <p:sp>
        <p:nvSpPr>
          <p:cNvPr id="9" name="Rounded Rectangle 8"/>
          <p:cNvSpPr/>
          <p:nvPr/>
        </p:nvSpPr>
        <p:spPr>
          <a:xfrm>
            <a:off x="640080" y="3611880"/>
            <a:ext cx="3429000" cy="1417320"/>
          </a:xfrm>
          <a:prstGeom prst="roundRect">
            <a:avLst/>
          </a:prstGeom>
          <a:solidFill>
            <a:srgbClr val="E8F2F8"/>
          </a:solidFill>
          <a:ln>
            <a:solidFill>
              <a:srgbClr val="E8F2F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91440"/>
          <a:lstStyle/>
          <a:p>
            <a:pPr algn="ctr">
              <a:spcAft>
                <a:spcPts val="700"/>
              </a:spcAft>
              <a:defRPr sz="1600" b="1">
                <a:solidFill>
                  <a:srgbClr val="14365C"/>
                </a:solidFill>
                <a:latin typeface="Aptos Display"/>
              </a:defRPr>
            </a:pPr>
            <a:r>
              <a:t>4. Update status</a:t>
            </a:r>
          </a:p>
          <a:p>
            <a:pPr>
              <a:defRPr sz="1300">
                <a:solidFill>
                  <a:srgbClr val="2D3748"/>
                </a:solidFill>
                <a:latin typeface="Aptos"/>
              </a:defRPr>
            </a:pPr>
            <a:r>
              <a:t>Record transition and justification</a:t>
            </a:r>
          </a:p>
        </p:txBody>
      </p:sp>
      <p:sp>
        <p:nvSpPr>
          <p:cNvPr id="10" name="Rounded Rectangle 9"/>
          <p:cNvSpPr/>
          <p:nvPr/>
        </p:nvSpPr>
        <p:spPr>
          <a:xfrm>
            <a:off x="4526280" y="3611880"/>
            <a:ext cx="3429000" cy="1417320"/>
          </a:xfrm>
          <a:prstGeom prst="roundRect">
            <a:avLst/>
          </a:prstGeom>
          <a:solidFill>
            <a:srgbClr val="DCEFE9"/>
          </a:solidFill>
          <a:ln>
            <a:solidFill>
              <a:srgbClr val="DCEFE9"/>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91440"/>
          <a:lstStyle/>
          <a:p>
            <a:pPr algn="ctr">
              <a:spcAft>
                <a:spcPts val="700"/>
              </a:spcAft>
              <a:defRPr sz="1600" b="1">
                <a:solidFill>
                  <a:srgbClr val="14365C"/>
                </a:solidFill>
                <a:latin typeface="Aptos Display"/>
              </a:defRPr>
            </a:pPr>
            <a:r>
              <a:t>5. Add notes</a:t>
            </a:r>
          </a:p>
          <a:p>
            <a:pPr>
              <a:defRPr sz="1300">
                <a:solidFill>
                  <a:srgbClr val="2D3748"/>
                </a:solidFill>
                <a:latin typeface="Aptos"/>
              </a:defRPr>
            </a:pPr>
            <a:r>
              <a:t>Capture review comments</a:t>
            </a:r>
          </a:p>
        </p:txBody>
      </p:sp>
      <p:sp>
        <p:nvSpPr>
          <p:cNvPr id="11" name="Rounded Rectangle 10"/>
          <p:cNvSpPr/>
          <p:nvPr/>
        </p:nvSpPr>
        <p:spPr>
          <a:xfrm>
            <a:off x="8412480" y="3611880"/>
            <a:ext cx="3429000" cy="1417320"/>
          </a:xfrm>
          <a:prstGeom prst="roundRect">
            <a:avLst/>
          </a:prstGeom>
          <a:solidFill>
            <a:srgbClr val="FAEDCD"/>
          </a:solidFill>
          <a:ln>
            <a:solidFill>
              <a:srgbClr val="FAEDCD"/>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91440"/>
          <a:lstStyle/>
          <a:p>
            <a:pPr algn="ctr">
              <a:spcAft>
                <a:spcPts val="700"/>
              </a:spcAft>
              <a:defRPr sz="1600" b="1">
                <a:solidFill>
                  <a:srgbClr val="14365C"/>
                </a:solidFill>
                <a:latin typeface="Aptos Display"/>
              </a:defRPr>
            </a:pPr>
            <a:r>
              <a:t>6. Review history</a:t>
            </a:r>
          </a:p>
          <a:p>
            <a:pPr>
              <a:defRPr sz="1300">
                <a:solidFill>
                  <a:srgbClr val="2D3748"/>
                </a:solidFill>
                <a:latin typeface="Aptos"/>
              </a:defRPr>
            </a:pPr>
            <a:r>
              <a:t>Retrieve notes, status history and analytics</a:t>
            </a:r>
          </a:p>
        </p:txBody>
      </p:sp>
      <p:sp>
        <p:nvSpPr>
          <p:cNvPr id="12" name="TextBox 11"/>
          <p:cNvSpPr txBox="1"/>
          <p:nvPr/>
        </p:nvSpPr>
        <p:spPr>
          <a:xfrm>
            <a:off x="777240" y="5897880"/>
            <a:ext cx="10607040" cy="411480"/>
          </a:xfrm>
          <a:prstGeom prst="rect">
            <a:avLst/>
          </a:prstGeom>
          <a:noFill/>
        </p:spPr>
        <p:txBody>
          <a:bodyPr wrap="square" lIns="54864" rIns="54864" tIns="36576" bIns="18288">
            <a:spAutoFit/>
          </a:bodyPr>
          <a:lstStyle/>
          <a:p>
            <a:pPr>
              <a:defRPr sz="1300" b="1">
                <a:solidFill>
                  <a:srgbClr val="14365C"/>
                </a:solidFill>
                <a:latin typeface="Aptos"/>
              </a:defRPr>
            </a:pPr>
            <a:r>
              <a:t>Example scenario: hospitalization claim for fever and viral infection — claimed amount ₹25,000; status moved to UNDER_REVIEW.</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55680" cy="475488"/>
          </a:xfrm>
          <a:prstGeom prst="rect">
            <a:avLst/>
          </a:prstGeom>
          <a:noFill/>
        </p:spPr>
        <p:txBody>
          <a:bodyPr wrap="square" lIns="54864" rIns="54864" tIns="36576" bIns="18288">
            <a:spAutoFit/>
          </a:bodyPr>
          <a:lstStyle/>
          <a:p>
            <a:pPr>
              <a:defRPr sz="2700" b="1">
                <a:solidFill>
                  <a:srgbClr val="14365C"/>
                </a:solidFill>
                <a:latin typeface="Aptos"/>
              </a:defRPr>
            </a:pPr>
            <a:r>
              <a:t>4. Data Layer — PostgreSQL</a:t>
            </a:r>
          </a:p>
        </p:txBody>
      </p:sp>
      <p:sp>
        <p:nvSpPr>
          <p:cNvPr id="3" name="Rectangle 2"/>
          <p:cNvSpPr/>
          <p:nvPr/>
        </p:nvSpPr>
        <p:spPr>
          <a:xfrm>
            <a:off x="530352" y="850392"/>
            <a:ext cx="960120" cy="54864"/>
          </a:xfrm>
          <a:prstGeom prst="rect">
            <a:avLst/>
          </a:prstGeom>
          <a:solidFill>
            <a:srgbClr val="0080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960120"/>
            <a:ext cx="11064240" cy="320040"/>
          </a:xfrm>
          <a:prstGeom prst="rect">
            <a:avLst/>
          </a:prstGeom>
          <a:noFill/>
        </p:spPr>
        <p:txBody>
          <a:bodyPr wrap="square" lIns="54864" rIns="54864" tIns="36576" bIns="18288">
            <a:spAutoFit/>
          </a:bodyPr>
          <a:lstStyle/>
          <a:p>
            <a:pPr>
              <a:defRPr sz="1100" b="0">
                <a:solidFill>
                  <a:srgbClr val="697582"/>
                </a:solidFill>
                <a:latin typeface="Aptos"/>
              </a:defRPr>
            </a:pPr>
            <a:r>
              <a:t>Structured records support the claim lifecycle and document tracking</a:t>
            </a:r>
          </a:p>
        </p:txBody>
      </p:sp>
      <p:sp>
        <p:nvSpPr>
          <p:cNvPr id="5" name="TextBox 4"/>
          <p:cNvSpPr txBox="1"/>
          <p:nvPr/>
        </p:nvSpPr>
        <p:spPr>
          <a:xfrm>
            <a:off x="11292840" y="6510528"/>
            <a:ext cx="365760" cy="182880"/>
          </a:xfrm>
          <a:prstGeom prst="rect">
            <a:avLst/>
          </a:prstGeom>
          <a:noFill/>
        </p:spPr>
        <p:txBody>
          <a:bodyPr wrap="square" lIns="54864" rIns="54864" tIns="36576" bIns="18288">
            <a:spAutoFit/>
          </a:bodyPr>
          <a:lstStyle/>
          <a:p>
            <a:pPr algn="r">
              <a:defRPr sz="900" b="0">
                <a:solidFill>
                  <a:srgbClr val="697582"/>
                </a:solidFill>
                <a:latin typeface="Aptos"/>
              </a:defRPr>
            </a:pPr>
            <a:r>
              <a:t>5</a:t>
            </a:r>
          </a:p>
        </p:txBody>
      </p:sp>
      <p:sp>
        <p:nvSpPr>
          <p:cNvPr id="6" name="Rounded Rectangle 5"/>
          <p:cNvSpPr/>
          <p:nvPr/>
        </p:nvSpPr>
        <p:spPr>
          <a:xfrm>
            <a:off x="594360" y="1417320"/>
            <a:ext cx="3474720" cy="1097280"/>
          </a:xfrm>
          <a:prstGeom prst="roundRect">
            <a:avLst/>
          </a:prstGeom>
          <a:solidFill>
            <a:srgbClr val="E8F2F8"/>
          </a:solidFill>
          <a:ln>
            <a:solidFill>
              <a:srgbClr val="E8F2F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91440"/>
          <a:lstStyle/>
          <a:p>
            <a:pPr algn="ctr">
              <a:spcAft>
                <a:spcPts val="700"/>
              </a:spcAft>
              <a:defRPr sz="1300" b="1">
                <a:solidFill>
                  <a:srgbClr val="14365C"/>
                </a:solidFill>
                <a:latin typeface="Aptos Display"/>
              </a:defRPr>
            </a:pPr>
            <a:r>
              <a:t>users</a:t>
            </a:r>
          </a:p>
          <a:p>
            <a:pPr>
              <a:defRPr sz="1100">
                <a:solidFill>
                  <a:srgbClr val="2D3748"/>
                </a:solidFill>
                <a:latin typeface="Aptos"/>
              </a:defRPr>
            </a:pPr>
            <a:r>
              <a:t>Accounts, roles and access</a:t>
            </a:r>
          </a:p>
        </p:txBody>
      </p:sp>
      <p:sp>
        <p:nvSpPr>
          <p:cNvPr id="7" name="Rounded Rectangle 6"/>
          <p:cNvSpPr/>
          <p:nvPr/>
        </p:nvSpPr>
        <p:spPr>
          <a:xfrm>
            <a:off x="4480560" y="1417320"/>
            <a:ext cx="3474720" cy="1097280"/>
          </a:xfrm>
          <a:prstGeom prst="roundRect">
            <a:avLst/>
          </a:prstGeom>
          <a:solidFill>
            <a:srgbClr val="DCEFE9"/>
          </a:solidFill>
          <a:ln>
            <a:solidFill>
              <a:srgbClr val="DCEFE9"/>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91440"/>
          <a:lstStyle/>
          <a:p>
            <a:pPr algn="ctr">
              <a:spcAft>
                <a:spcPts val="700"/>
              </a:spcAft>
              <a:defRPr sz="1300" b="1">
                <a:solidFill>
                  <a:srgbClr val="14365C"/>
                </a:solidFill>
                <a:latin typeface="Aptos Display"/>
              </a:defRPr>
            </a:pPr>
            <a:r>
              <a:t>policies</a:t>
            </a:r>
          </a:p>
          <a:p>
            <a:pPr>
              <a:defRPr sz="1100">
                <a:solidFill>
                  <a:srgbClr val="2D3748"/>
                </a:solidFill>
                <a:latin typeface="Aptos"/>
              </a:defRPr>
            </a:pPr>
            <a:r>
              <a:t>Policy records and ownership</a:t>
            </a:r>
          </a:p>
        </p:txBody>
      </p:sp>
      <p:sp>
        <p:nvSpPr>
          <p:cNvPr id="8" name="Rounded Rectangle 7"/>
          <p:cNvSpPr/>
          <p:nvPr/>
        </p:nvSpPr>
        <p:spPr>
          <a:xfrm>
            <a:off x="8366760" y="1417320"/>
            <a:ext cx="3474720" cy="1097280"/>
          </a:xfrm>
          <a:prstGeom prst="roundRect">
            <a:avLst/>
          </a:prstGeom>
          <a:solidFill>
            <a:srgbClr val="FAEDCD"/>
          </a:solidFill>
          <a:ln>
            <a:solidFill>
              <a:srgbClr val="FAEDCD"/>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91440"/>
          <a:lstStyle/>
          <a:p>
            <a:pPr algn="ctr">
              <a:spcAft>
                <a:spcPts val="700"/>
              </a:spcAft>
              <a:defRPr sz="1300" b="1">
                <a:solidFill>
                  <a:srgbClr val="14365C"/>
                </a:solidFill>
                <a:latin typeface="Aptos Display"/>
              </a:defRPr>
            </a:pPr>
            <a:r>
              <a:t>claims</a:t>
            </a:r>
          </a:p>
          <a:p>
            <a:pPr>
              <a:defRPr sz="1100">
                <a:solidFill>
                  <a:srgbClr val="2D3748"/>
                </a:solidFill>
                <a:latin typeface="Aptos"/>
              </a:defRPr>
            </a:pPr>
            <a:r>
              <a:t>Claim details, amount, status and assignment</a:t>
            </a:r>
          </a:p>
        </p:txBody>
      </p:sp>
      <p:sp>
        <p:nvSpPr>
          <p:cNvPr id="9" name="Rounded Rectangle 8"/>
          <p:cNvSpPr/>
          <p:nvPr/>
        </p:nvSpPr>
        <p:spPr>
          <a:xfrm>
            <a:off x="594360" y="2926080"/>
            <a:ext cx="3474720" cy="1097280"/>
          </a:xfrm>
          <a:prstGeom prst="roundRect">
            <a:avLst/>
          </a:prstGeom>
          <a:solidFill>
            <a:srgbClr val="E8F2F8"/>
          </a:solidFill>
          <a:ln>
            <a:solidFill>
              <a:srgbClr val="E8F2F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91440"/>
          <a:lstStyle/>
          <a:p>
            <a:pPr algn="ctr">
              <a:spcAft>
                <a:spcPts val="700"/>
              </a:spcAft>
              <a:defRPr sz="1300" b="1">
                <a:solidFill>
                  <a:srgbClr val="14365C"/>
                </a:solidFill>
                <a:latin typeface="Aptos Display"/>
              </a:defRPr>
            </a:pPr>
            <a:r>
              <a:t>claim_status_history</a:t>
            </a:r>
          </a:p>
          <a:p>
            <a:pPr>
              <a:defRPr sz="1100">
                <a:solidFill>
                  <a:srgbClr val="2D3748"/>
                </a:solidFill>
                <a:latin typeface="Aptos"/>
              </a:defRPr>
            </a:pPr>
            <a:r>
              <a:t>Status transitions and justifications</a:t>
            </a:r>
          </a:p>
        </p:txBody>
      </p:sp>
      <p:sp>
        <p:nvSpPr>
          <p:cNvPr id="10" name="Rounded Rectangle 9"/>
          <p:cNvSpPr/>
          <p:nvPr/>
        </p:nvSpPr>
        <p:spPr>
          <a:xfrm>
            <a:off x="4480560" y="2926080"/>
            <a:ext cx="3474720" cy="1097280"/>
          </a:xfrm>
          <a:prstGeom prst="roundRect">
            <a:avLst/>
          </a:prstGeom>
          <a:solidFill>
            <a:srgbClr val="DCEFE9"/>
          </a:solidFill>
          <a:ln>
            <a:solidFill>
              <a:srgbClr val="DCEFE9"/>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91440"/>
          <a:lstStyle/>
          <a:p>
            <a:pPr algn="ctr">
              <a:spcAft>
                <a:spcPts val="700"/>
              </a:spcAft>
              <a:defRPr sz="1300" b="1">
                <a:solidFill>
                  <a:srgbClr val="14365C"/>
                </a:solidFill>
                <a:latin typeface="Aptos Display"/>
              </a:defRPr>
            </a:pPr>
            <a:r>
              <a:t>claim_notes</a:t>
            </a:r>
          </a:p>
          <a:p>
            <a:pPr>
              <a:defRPr sz="1100">
                <a:solidFill>
                  <a:srgbClr val="2D3748"/>
                </a:solidFill>
                <a:latin typeface="Aptos"/>
              </a:defRPr>
            </a:pPr>
            <a:r>
              <a:t>Reviewer and adjuster notes</a:t>
            </a:r>
          </a:p>
        </p:txBody>
      </p:sp>
      <p:sp>
        <p:nvSpPr>
          <p:cNvPr id="11" name="Rounded Rectangle 10"/>
          <p:cNvSpPr/>
          <p:nvPr/>
        </p:nvSpPr>
        <p:spPr>
          <a:xfrm>
            <a:off x="8366760" y="2926080"/>
            <a:ext cx="3474720" cy="1097280"/>
          </a:xfrm>
          <a:prstGeom prst="roundRect">
            <a:avLst/>
          </a:prstGeom>
          <a:solidFill>
            <a:srgbClr val="FAEDCD"/>
          </a:solidFill>
          <a:ln>
            <a:solidFill>
              <a:srgbClr val="FAEDCD"/>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91440"/>
          <a:lstStyle/>
          <a:p>
            <a:pPr algn="ctr">
              <a:spcAft>
                <a:spcPts val="700"/>
              </a:spcAft>
              <a:defRPr sz="1300" b="1">
                <a:solidFill>
                  <a:srgbClr val="14365C"/>
                </a:solidFill>
                <a:latin typeface="Aptos Display"/>
              </a:defRPr>
            </a:pPr>
            <a:r>
              <a:t>audit_logs</a:t>
            </a:r>
          </a:p>
          <a:p>
            <a:pPr>
              <a:defRPr sz="1100">
                <a:solidFill>
                  <a:srgbClr val="2D3748"/>
                </a:solidFill>
                <a:latin typeface="Aptos"/>
              </a:defRPr>
            </a:pPr>
            <a:r>
              <a:t>Recorded application actions</a:t>
            </a:r>
          </a:p>
        </p:txBody>
      </p:sp>
      <p:sp>
        <p:nvSpPr>
          <p:cNvPr id="12" name="Rounded Rectangle 11"/>
          <p:cNvSpPr/>
          <p:nvPr/>
        </p:nvSpPr>
        <p:spPr>
          <a:xfrm>
            <a:off x="594360" y="4434840"/>
            <a:ext cx="3474720" cy="1097280"/>
          </a:xfrm>
          <a:prstGeom prst="roundRect">
            <a:avLst/>
          </a:prstGeom>
          <a:solidFill>
            <a:srgbClr val="E8F2F8"/>
          </a:solidFill>
          <a:ln>
            <a:solidFill>
              <a:srgbClr val="E8F2F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91440"/>
          <a:lstStyle/>
          <a:p>
            <a:pPr algn="ctr">
              <a:spcAft>
                <a:spcPts val="700"/>
              </a:spcAft>
              <a:defRPr sz="1300" b="1">
                <a:solidFill>
                  <a:srgbClr val="14365C"/>
                </a:solidFill>
                <a:latin typeface="Aptos Display"/>
              </a:defRPr>
            </a:pPr>
            <a:r>
              <a:t>documents</a:t>
            </a:r>
          </a:p>
          <a:p>
            <a:pPr>
              <a:defRPr sz="1100">
                <a:solidFill>
                  <a:srgbClr val="2D3748"/>
                </a:solidFill>
                <a:latin typeface="Aptos"/>
              </a:defRPr>
            </a:pPr>
            <a:r>
              <a:t>Document metadata, version and processing status</a:t>
            </a:r>
          </a:p>
        </p:txBody>
      </p:sp>
      <p:sp>
        <p:nvSpPr>
          <p:cNvPr id="13" name="Rounded Rectangle 12"/>
          <p:cNvSpPr/>
          <p:nvPr/>
        </p:nvSpPr>
        <p:spPr>
          <a:xfrm>
            <a:off x="4480560" y="4434840"/>
            <a:ext cx="3474720" cy="1097280"/>
          </a:xfrm>
          <a:prstGeom prst="roundRect">
            <a:avLst/>
          </a:prstGeom>
          <a:solidFill>
            <a:srgbClr val="DCEFE9"/>
          </a:solidFill>
          <a:ln>
            <a:solidFill>
              <a:srgbClr val="DCEFE9"/>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91440"/>
          <a:lstStyle/>
          <a:p>
            <a:pPr algn="ctr">
              <a:spcAft>
                <a:spcPts val="700"/>
              </a:spcAft>
              <a:defRPr sz="1300" b="1">
                <a:solidFill>
                  <a:srgbClr val="14365C"/>
                </a:solidFill>
                <a:latin typeface="Aptos Display"/>
              </a:defRPr>
            </a:pPr>
            <a:r>
              <a:t>document_chunks</a:t>
            </a:r>
          </a:p>
          <a:p>
            <a:pPr>
              <a:defRPr sz="1100">
                <a:solidFill>
                  <a:srgbClr val="2D3748"/>
                </a:solidFill>
                <a:latin typeface="Aptos"/>
              </a:defRPr>
            </a:pPr>
            <a:r>
              <a:t>Extracted text segments linked to documents</a:t>
            </a:r>
          </a:p>
        </p:txBody>
      </p:sp>
      <p:sp>
        <p:nvSpPr>
          <p:cNvPr id="14" name="Rounded Rectangle 13"/>
          <p:cNvSpPr/>
          <p:nvPr/>
        </p:nvSpPr>
        <p:spPr>
          <a:xfrm>
            <a:off x="8366760" y="4434840"/>
            <a:ext cx="3474720" cy="1097280"/>
          </a:xfrm>
          <a:prstGeom prst="roundRect">
            <a:avLst/>
          </a:prstGeom>
          <a:solidFill>
            <a:srgbClr val="FAEDCD"/>
          </a:solidFill>
          <a:ln>
            <a:solidFill>
              <a:srgbClr val="FAEDCD"/>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91440"/>
          <a:lstStyle/>
          <a:p>
            <a:pPr algn="ctr">
              <a:spcAft>
                <a:spcPts val="700"/>
              </a:spcAft>
              <a:defRPr sz="1300" b="1">
                <a:solidFill>
                  <a:srgbClr val="14365C"/>
                </a:solidFill>
                <a:latin typeface="Aptos Display"/>
              </a:defRPr>
            </a:pPr>
            <a:r>
              <a:t>chat_query_logs</a:t>
            </a:r>
          </a:p>
          <a:p>
            <a:pPr>
              <a:defRPr sz="1100">
                <a:solidFill>
                  <a:srgbClr val="2D3748"/>
                </a:solidFill>
                <a:latin typeface="Aptos"/>
              </a:defRPr>
            </a:pPr>
            <a:r>
              <a:t>AI questions, answers and source information</a:t>
            </a:r>
          </a:p>
        </p:txBody>
      </p:sp>
      <p:sp>
        <p:nvSpPr>
          <p:cNvPr id="15" name="TextBox 14"/>
          <p:cNvSpPr txBox="1"/>
          <p:nvPr/>
        </p:nvSpPr>
        <p:spPr>
          <a:xfrm>
            <a:off x="731520" y="6172200"/>
            <a:ext cx="10698480" cy="274320"/>
          </a:xfrm>
          <a:prstGeom prst="rect">
            <a:avLst/>
          </a:prstGeom>
          <a:noFill/>
        </p:spPr>
        <p:txBody>
          <a:bodyPr wrap="square" lIns="54864" rIns="54864" tIns="36576" bIns="18288">
            <a:spAutoFit/>
          </a:bodyPr>
          <a:lstStyle/>
          <a:p>
            <a:pPr>
              <a:defRPr sz="1100" b="0">
                <a:solidFill>
                  <a:srgbClr val="697582"/>
                </a:solidFill>
                <a:latin typeface="Aptos"/>
              </a:defRPr>
            </a:pPr>
            <a:r>
              <a:t>PostgreSQL stores structured application data; the vector search index is maintained in Azure AI Search.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55680" cy="475488"/>
          </a:xfrm>
          <a:prstGeom prst="rect">
            <a:avLst/>
          </a:prstGeom>
          <a:noFill/>
        </p:spPr>
        <p:txBody>
          <a:bodyPr wrap="square" lIns="54864" rIns="54864" tIns="36576" bIns="18288">
            <a:spAutoFit/>
          </a:bodyPr>
          <a:lstStyle/>
          <a:p>
            <a:pPr>
              <a:defRPr sz="2700" b="1">
                <a:solidFill>
                  <a:srgbClr val="14365C"/>
                </a:solidFill>
                <a:latin typeface="Aptos"/>
              </a:defRPr>
            </a:pPr>
            <a:r>
              <a:t>5. AI-Assisted Policy Search (RAG)</a:t>
            </a:r>
          </a:p>
        </p:txBody>
      </p:sp>
      <p:sp>
        <p:nvSpPr>
          <p:cNvPr id="3" name="Rectangle 2"/>
          <p:cNvSpPr/>
          <p:nvPr/>
        </p:nvSpPr>
        <p:spPr>
          <a:xfrm>
            <a:off x="530352" y="850392"/>
            <a:ext cx="960120" cy="54864"/>
          </a:xfrm>
          <a:prstGeom prst="rect">
            <a:avLst/>
          </a:prstGeom>
          <a:solidFill>
            <a:srgbClr val="0080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960120"/>
            <a:ext cx="11064240" cy="320040"/>
          </a:xfrm>
          <a:prstGeom prst="rect">
            <a:avLst/>
          </a:prstGeom>
          <a:noFill/>
        </p:spPr>
        <p:txBody>
          <a:bodyPr wrap="square" lIns="54864" rIns="54864" tIns="36576" bIns="18288">
            <a:spAutoFit/>
          </a:bodyPr>
          <a:lstStyle/>
          <a:p>
            <a:pPr>
              <a:defRPr sz="1100" b="0">
                <a:solidFill>
                  <a:srgbClr val="697582"/>
                </a:solidFill>
                <a:latin typeface="Aptos"/>
              </a:defRPr>
            </a:pPr>
            <a:r>
              <a:t>Retrieval-Augmented Generation grounds answers in relevant policy text</a:t>
            </a:r>
          </a:p>
        </p:txBody>
      </p:sp>
      <p:sp>
        <p:nvSpPr>
          <p:cNvPr id="5" name="TextBox 4"/>
          <p:cNvSpPr txBox="1"/>
          <p:nvPr/>
        </p:nvSpPr>
        <p:spPr>
          <a:xfrm>
            <a:off x="11292840" y="6510528"/>
            <a:ext cx="365760" cy="182880"/>
          </a:xfrm>
          <a:prstGeom prst="rect">
            <a:avLst/>
          </a:prstGeom>
          <a:noFill/>
        </p:spPr>
        <p:txBody>
          <a:bodyPr wrap="square" lIns="54864" rIns="54864" tIns="36576" bIns="18288">
            <a:spAutoFit/>
          </a:bodyPr>
          <a:lstStyle/>
          <a:p>
            <a:pPr algn="r">
              <a:defRPr sz="900" b="0">
                <a:solidFill>
                  <a:srgbClr val="697582"/>
                </a:solidFill>
                <a:latin typeface="Aptos"/>
              </a:defRPr>
            </a:pPr>
            <a:r>
              <a:t>6</a:t>
            </a:r>
          </a:p>
        </p:txBody>
      </p:sp>
      <p:sp>
        <p:nvSpPr>
          <p:cNvPr id="6" name="Rounded Rectangle 5"/>
          <p:cNvSpPr/>
          <p:nvPr/>
        </p:nvSpPr>
        <p:spPr>
          <a:xfrm>
            <a:off x="640080" y="1508760"/>
            <a:ext cx="3429000" cy="1417320"/>
          </a:xfrm>
          <a:prstGeom prst="roundRect">
            <a:avLst/>
          </a:prstGeom>
          <a:solidFill>
            <a:srgbClr val="E8F2F8"/>
          </a:solidFill>
          <a:ln>
            <a:solidFill>
              <a:srgbClr val="E8F2F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91440"/>
          <a:lstStyle/>
          <a:p>
            <a:pPr algn="ctr">
              <a:spcAft>
                <a:spcPts val="700"/>
              </a:spcAft>
              <a:defRPr sz="1500" b="1">
                <a:solidFill>
                  <a:srgbClr val="14365C"/>
                </a:solidFill>
                <a:latin typeface="Aptos Display"/>
              </a:defRPr>
            </a:pPr>
            <a:r>
              <a:t>1. Upload</a:t>
            </a:r>
          </a:p>
          <a:p>
            <a:pPr>
              <a:defRPr sz="1200">
                <a:solidFill>
                  <a:srgbClr val="2D3748"/>
                </a:solidFill>
                <a:latin typeface="Aptos"/>
              </a:defRPr>
            </a:pPr>
            <a:r>
              <a:t>Register document metadata and upload the policy file.</a:t>
            </a:r>
          </a:p>
        </p:txBody>
      </p:sp>
      <p:sp>
        <p:nvSpPr>
          <p:cNvPr id="7" name="Rounded Rectangle 6"/>
          <p:cNvSpPr/>
          <p:nvPr/>
        </p:nvSpPr>
        <p:spPr>
          <a:xfrm>
            <a:off x="4526280" y="1508760"/>
            <a:ext cx="3429000" cy="1417320"/>
          </a:xfrm>
          <a:prstGeom prst="roundRect">
            <a:avLst/>
          </a:prstGeom>
          <a:solidFill>
            <a:srgbClr val="DCEFE9"/>
          </a:solidFill>
          <a:ln>
            <a:solidFill>
              <a:srgbClr val="DCEFE9"/>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91440"/>
          <a:lstStyle/>
          <a:p>
            <a:pPr algn="ctr">
              <a:spcAft>
                <a:spcPts val="700"/>
              </a:spcAft>
              <a:defRPr sz="1500" b="1">
                <a:solidFill>
                  <a:srgbClr val="14365C"/>
                </a:solidFill>
                <a:latin typeface="Aptos Display"/>
              </a:defRPr>
            </a:pPr>
            <a:r>
              <a:t>2. Extract &amp; chunk</a:t>
            </a:r>
          </a:p>
          <a:p>
            <a:pPr>
              <a:defRPr sz="1200">
                <a:solidFill>
                  <a:srgbClr val="2D3748"/>
                </a:solidFill>
                <a:latin typeface="Aptos"/>
              </a:defRPr>
            </a:pPr>
            <a:r>
              <a:t>Extract text and split it into manageable segments.</a:t>
            </a:r>
          </a:p>
        </p:txBody>
      </p:sp>
      <p:sp>
        <p:nvSpPr>
          <p:cNvPr id="8" name="Rounded Rectangle 7"/>
          <p:cNvSpPr/>
          <p:nvPr/>
        </p:nvSpPr>
        <p:spPr>
          <a:xfrm>
            <a:off x="8412480" y="1508760"/>
            <a:ext cx="3429000" cy="1417320"/>
          </a:xfrm>
          <a:prstGeom prst="roundRect">
            <a:avLst/>
          </a:prstGeom>
          <a:solidFill>
            <a:srgbClr val="FAEDCD"/>
          </a:solidFill>
          <a:ln>
            <a:solidFill>
              <a:srgbClr val="FAEDCD"/>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91440"/>
          <a:lstStyle/>
          <a:p>
            <a:pPr algn="ctr">
              <a:spcAft>
                <a:spcPts val="700"/>
              </a:spcAft>
              <a:defRPr sz="1500" b="1">
                <a:solidFill>
                  <a:srgbClr val="14365C"/>
                </a:solidFill>
                <a:latin typeface="Aptos Display"/>
              </a:defRPr>
            </a:pPr>
            <a:r>
              <a:t>3. Embed &amp; index</a:t>
            </a:r>
          </a:p>
          <a:p>
            <a:pPr>
              <a:defRPr sz="1200">
                <a:solidFill>
                  <a:srgbClr val="2D3748"/>
                </a:solidFill>
                <a:latin typeface="Aptos"/>
              </a:defRPr>
            </a:pPr>
            <a:r>
              <a:t>Create vectors and index chunks in Azure AI Search.</a:t>
            </a:r>
          </a:p>
        </p:txBody>
      </p:sp>
      <p:sp>
        <p:nvSpPr>
          <p:cNvPr id="9" name="Rounded Rectangle 8"/>
          <p:cNvSpPr/>
          <p:nvPr/>
        </p:nvSpPr>
        <p:spPr>
          <a:xfrm>
            <a:off x="640080" y="3474720"/>
            <a:ext cx="3429000" cy="1417320"/>
          </a:xfrm>
          <a:prstGeom prst="roundRect">
            <a:avLst/>
          </a:prstGeom>
          <a:solidFill>
            <a:srgbClr val="E8F2F8"/>
          </a:solidFill>
          <a:ln>
            <a:solidFill>
              <a:srgbClr val="E8F2F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91440"/>
          <a:lstStyle/>
          <a:p>
            <a:pPr algn="ctr">
              <a:spcAft>
                <a:spcPts val="700"/>
              </a:spcAft>
              <a:defRPr sz="1500" b="1">
                <a:solidFill>
                  <a:srgbClr val="14365C"/>
                </a:solidFill>
                <a:latin typeface="Aptos Display"/>
              </a:defRPr>
            </a:pPr>
            <a:r>
              <a:t>4. Ask a question</a:t>
            </a:r>
          </a:p>
          <a:p>
            <a:pPr>
              <a:defRPr sz="1200">
                <a:solidFill>
                  <a:srgbClr val="2D3748"/>
                </a:solidFill>
                <a:latin typeface="Aptos"/>
              </a:defRPr>
            </a:pPr>
            <a:r>
              <a:t>Submit a natural-language question to the AI query API.</a:t>
            </a:r>
          </a:p>
        </p:txBody>
      </p:sp>
      <p:sp>
        <p:nvSpPr>
          <p:cNvPr id="10" name="Rounded Rectangle 9"/>
          <p:cNvSpPr/>
          <p:nvPr/>
        </p:nvSpPr>
        <p:spPr>
          <a:xfrm>
            <a:off x="4526280" y="3474720"/>
            <a:ext cx="3429000" cy="1417320"/>
          </a:xfrm>
          <a:prstGeom prst="roundRect">
            <a:avLst/>
          </a:prstGeom>
          <a:solidFill>
            <a:srgbClr val="DCEFE9"/>
          </a:solidFill>
          <a:ln>
            <a:solidFill>
              <a:srgbClr val="DCEFE9"/>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91440"/>
          <a:lstStyle/>
          <a:p>
            <a:pPr algn="ctr">
              <a:spcAft>
                <a:spcPts val="700"/>
              </a:spcAft>
              <a:defRPr sz="1500" b="1">
                <a:solidFill>
                  <a:srgbClr val="14365C"/>
                </a:solidFill>
                <a:latin typeface="Aptos Display"/>
              </a:defRPr>
            </a:pPr>
            <a:r>
              <a:t>5. Retrieve context</a:t>
            </a:r>
          </a:p>
          <a:p>
            <a:pPr>
              <a:defRPr sz="1200">
                <a:solidFill>
                  <a:srgbClr val="2D3748"/>
                </a:solidFill>
                <a:latin typeface="Aptos"/>
              </a:defRPr>
            </a:pPr>
            <a:r>
              <a:t>Search for relevant chunks from processed documents.</a:t>
            </a:r>
          </a:p>
        </p:txBody>
      </p:sp>
      <p:sp>
        <p:nvSpPr>
          <p:cNvPr id="11" name="Rounded Rectangle 10"/>
          <p:cNvSpPr/>
          <p:nvPr/>
        </p:nvSpPr>
        <p:spPr>
          <a:xfrm>
            <a:off x="8412480" y="3474720"/>
            <a:ext cx="3429000" cy="1417320"/>
          </a:xfrm>
          <a:prstGeom prst="roundRect">
            <a:avLst/>
          </a:prstGeom>
          <a:solidFill>
            <a:srgbClr val="FAEDCD"/>
          </a:solidFill>
          <a:ln>
            <a:solidFill>
              <a:srgbClr val="FAEDCD"/>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91440"/>
          <a:lstStyle/>
          <a:p>
            <a:pPr algn="ctr">
              <a:spcAft>
                <a:spcPts val="700"/>
              </a:spcAft>
              <a:defRPr sz="1500" b="1">
                <a:solidFill>
                  <a:srgbClr val="14365C"/>
                </a:solidFill>
                <a:latin typeface="Aptos Display"/>
              </a:defRPr>
            </a:pPr>
            <a:r>
              <a:t>6. Generate answer</a:t>
            </a:r>
          </a:p>
          <a:p>
            <a:pPr>
              <a:defRPr sz="1200">
                <a:solidFill>
                  <a:srgbClr val="2D3748"/>
                </a:solidFill>
                <a:latin typeface="Aptos"/>
              </a:defRPr>
            </a:pPr>
            <a:r>
              <a:t>Azure OpenAI forms a response using retrieved context.</a:t>
            </a:r>
          </a:p>
        </p:txBody>
      </p:sp>
      <p:sp>
        <p:nvSpPr>
          <p:cNvPr id="12" name="TextBox 11"/>
          <p:cNvSpPr txBox="1"/>
          <p:nvPr/>
        </p:nvSpPr>
        <p:spPr>
          <a:xfrm>
            <a:off x="822960" y="5852160"/>
            <a:ext cx="10515600" cy="457200"/>
          </a:xfrm>
          <a:prstGeom prst="rect">
            <a:avLst/>
          </a:prstGeom>
          <a:noFill/>
        </p:spPr>
        <p:txBody>
          <a:bodyPr wrap="square" lIns="54864" rIns="54864" tIns="36576" bIns="18288">
            <a:spAutoFit/>
          </a:bodyPr>
          <a:lstStyle/>
          <a:p>
            <a:pPr>
              <a:defRPr sz="1400" b="1">
                <a:solidFill>
                  <a:srgbClr val="14365C"/>
                </a:solidFill>
                <a:latin typeface="Aptos"/>
              </a:defRPr>
            </a:pPr>
            <a:r>
              <a:t>Important: AI supports the adjuster’s review; it does not automatically approve or reject a claim.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55680" cy="475488"/>
          </a:xfrm>
          <a:prstGeom prst="rect">
            <a:avLst/>
          </a:prstGeom>
          <a:noFill/>
        </p:spPr>
        <p:txBody>
          <a:bodyPr wrap="square" lIns="54864" rIns="54864" tIns="36576" bIns="18288">
            <a:spAutoFit/>
          </a:bodyPr>
          <a:lstStyle/>
          <a:p>
            <a:pPr>
              <a:defRPr sz="2700" b="1">
                <a:solidFill>
                  <a:srgbClr val="14365C"/>
                </a:solidFill>
                <a:latin typeface="Aptos"/>
              </a:defRPr>
            </a:pPr>
            <a:r>
              <a:t>6. APIs &amp; User Interfaces</a:t>
            </a:r>
          </a:p>
        </p:txBody>
      </p:sp>
      <p:sp>
        <p:nvSpPr>
          <p:cNvPr id="3" name="Rectangle 2"/>
          <p:cNvSpPr/>
          <p:nvPr/>
        </p:nvSpPr>
        <p:spPr>
          <a:xfrm>
            <a:off x="530352" y="850392"/>
            <a:ext cx="960120" cy="54864"/>
          </a:xfrm>
          <a:prstGeom prst="rect">
            <a:avLst/>
          </a:prstGeom>
          <a:solidFill>
            <a:srgbClr val="0080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960120"/>
            <a:ext cx="11064240" cy="320040"/>
          </a:xfrm>
          <a:prstGeom prst="rect">
            <a:avLst/>
          </a:prstGeom>
          <a:noFill/>
        </p:spPr>
        <p:txBody>
          <a:bodyPr wrap="square" lIns="54864" rIns="54864" tIns="36576" bIns="18288">
            <a:spAutoFit/>
          </a:bodyPr>
          <a:lstStyle/>
          <a:p>
            <a:pPr>
              <a:defRPr sz="1100" b="0">
                <a:solidFill>
                  <a:srgbClr val="697582"/>
                </a:solidFill>
                <a:latin typeface="Aptos"/>
              </a:defRPr>
            </a:pPr>
            <a:r>
              <a:t>How users interact with the system</a:t>
            </a:r>
          </a:p>
        </p:txBody>
      </p:sp>
      <p:sp>
        <p:nvSpPr>
          <p:cNvPr id="5" name="TextBox 4"/>
          <p:cNvSpPr txBox="1"/>
          <p:nvPr/>
        </p:nvSpPr>
        <p:spPr>
          <a:xfrm>
            <a:off x="11292840" y="6510528"/>
            <a:ext cx="365760" cy="182880"/>
          </a:xfrm>
          <a:prstGeom prst="rect">
            <a:avLst/>
          </a:prstGeom>
          <a:noFill/>
        </p:spPr>
        <p:txBody>
          <a:bodyPr wrap="square" lIns="54864" rIns="54864" tIns="36576" bIns="18288">
            <a:spAutoFit/>
          </a:bodyPr>
          <a:lstStyle/>
          <a:p>
            <a:pPr algn="r">
              <a:defRPr sz="900" b="0">
                <a:solidFill>
                  <a:srgbClr val="697582"/>
                </a:solidFill>
                <a:latin typeface="Aptos"/>
              </a:defRPr>
            </a:pPr>
            <a:r>
              <a:t>7</a:t>
            </a:r>
          </a:p>
        </p:txBody>
      </p:sp>
      <p:sp>
        <p:nvSpPr>
          <p:cNvPr id="6" name="Rounded Rectangle 5"/>
          <p:cNvSpPr/>
          <p:nvPr/>
        </p:nvSpPr>
        <p:spPr>
          <a:xfrm>
            <a:off x="640080" y="1508760"/>
            <a:ext cx="5303520" cy="1828800"/>
          </a:xfrm>
          <a:prstGeom prst="roundRect">
            <a:avLst/>
          </a:prstGeom>
          <a:solidFill>
            <a:srgbClr val="E8F2F8"/>
          </a:solidFill>
          <a:ln>
            <a:solidFill>
              <a:srgbClr val="E8F2F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91440"/>
          <a:lstStyle/>
          <a:p>
            <a:pPr algn="ctr">
              <a:spcAft>
                <a:spcPts val="700"/>
              </a:spcAft>
              <a:defRPr sz="1700" b="1">
                <a:solidFill>
                  <a:srgbClr val="14365C"/>
                </a:solidFill>
                <a:latin typeface="Aptos Display"/>
              </a:defRPr>
            </a:pPr>
            <a:r>
              <a:t>Swagger UI</a:t>
            </a:r>
          </a:p>
          <a:p>
            <a:pPr>
              <a:defRPr sz="1400">
                <a:solidFill>
                  <a:srgbClr val="2D3748"/>
                </a:solidFill>
                <a:latin typeface="Aptos"/>
              </a:defRPr>
            </a:pPr>
            <a:r>
              <a:t>Used to test authentication, claims, assignment, workflow, notes, document upload/processing, and AI queries. Useful during development and verification.</a:t>
            </a:r>
          </a:p>
        </p:txBody>
      </p:sp>
      <p:sp>
        <p:nvSpPr>
          <p:cNvPr id="7" name="Rounded Rectangle 6"/>
          <p:cNvSpPr/>
          <p:nvPr/>
        </p:nvSpPr>
        <p:spPr>
          <a:xfrm>
            <a:off x="6263640" y="1508760"/>
            <a:ext cx="5303520" cy="1828800"/>
          </a:xfrm>
          <a:prstGeom prst="roundRect">
            <a:avLst/>
          </a:prstGeom>
          <a:solidFill>
            <a:srgbClr val="DCEFE9"/>
          </a:solidFill>
          <a:ln>
            <a:solidFill>
              <a:srgbClr val="DCEFE9"/>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91440"/>
          <a:lstStyle/>
          <a:p>
            <a:pPr algn="ctr">
              <a:spcAft>
                <a:spcPts val="700"/>
              </a:spcAft>
              <a:defRPr sz="1700" b="1">
                <a:solidFill>
                  <a:srgbClr val="14365C"/>
                </a:solidFill>
                <a:latin typeface="Aptos Display"/>
              </a:defRPr>
            </a:pPr>
            <a:r>
              <a:t>Streamlit analytics dashboard</a:t>
            </a:r>
          </a:p>
          <a:p>
            <a:pPr>
              <a:defRPr sz="1400">
                <a:solidFill>
                  <a:srgbClr val="2D3748"/>
                </a:solidFill>
                <a:latin typeface="Aptos"/>
              </a:defRPr>
            </a:pPr>
            <a:r>
              <a:t>Provides a login form and displays total claims, assigned/unassigned claims, claimed amounts, average amount, and status charts via the FastAPI analytics API.</a:t>
            </a:r>
          </a:p>
        </p:txBody>
      </p:sp>
      <p:sp>
        <p:nvSpPr>
          <p:cNvPr id="8" name="TextBox 7"/>
          <p:cNvSpPr txBox="1"/>
          <p:nvPr/>
        </p:nvSpPr>
        <p:spPr>
          <a:xfrm>
            <a:off x="868680" y="3840480"/>
            <a:ext cx="10515600" cy="1737360"/>
          </a:xfrm>
          <a:prstGeom prst="rect">
            <a:avLst/>
          </a:prstGeom>
          <a:noFill/>
        </p:spPr>
        <p:txBody>
          <a:bodyPr wrap="square" lIns="73152" rIns="45720" tIns="36576">
            <a:spAutoFit/>
          </a:bodyPr>
          <a:lstStyle/>
          <a:p>
            <a:pPr>
              <a:spcAft>
                <a:spcPts val="1000"/>
              </a:spcAft>
              <a:defRPr sz="1600">
                <a:solidFill>
                  <a:srgbClr val="2D3748"/>
                </a:solidFill>
                <a:latin typeface="Aptos"/>
              </a:defRPr>
            </a:pPr>
            <a:r>
              <a:t>FastAPI backend default local URL: http://127.0.0.1:8000</a:t>
            </a:r>
          </a:p>
          <a:p>
            <a:pPr>
              <a:spcAft>
                <a:spcPts val="1000"/>
              </a:spcAft>
              <a:defRPr sz="1600">
                <a:solidFill>
                  <a:srgbClr val="2D3748"/>
                </a:solidFill>
                <a:latin typeface="Aptos"/>
              </a:defRPr>
            </a:pPr>
            <a:r>
              <a:t>Swagger UI: http://127.0.0.1:8000/docs</a:t>
            </a:r>
          </a:p>
          <a:p>
            <a:pPr>
              <a:spcAft>
                <a:spcPts val="1000"/>
              </a:spcAft>
              <a:defRPr sz="1600">
                <a:solidFill>
                  <a:srgbClr val="2D3748"/>
                </a:solidFill>
                <a:latin typeface="Aptos"/>
              </a:defRPr>
            </a:pPr>
            <a:r>
              <a:t>Streamlit dashboard normally runs separately at http://localhost:8501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55680" cy="475488"/>
          </a:xfrm>
          <a:prstGeom prst="rect">
            <a:avLst/>
          </a:prstGeom>
          <a:noFill/>
        </p:spPr>
        <p:txBody>
          <a:bodyPr wrap="square" lIns="54864" rIns="54864" tIns="36576" bIns="18288">
            <a:spAutoFit/>
          </a:bodyPr>
          <a:lstStyle/>
          <a:p>
            <a:pPr>
              <a:defRPr sz="2700" b="1">
                <a:solidFill>
                  <a:srgbClr val="14365C"/>
                </a:solidFill>
                <a:latin typeface="Aptos"/>
              </a:defRPr>
            </a:pPr>
            <a:r>
              <a:t>7. Execution Scenario</a:t>
            </a:r>
          </a:p>
        </p:txBody>
      </p:sp>
      <p:sp>
        <p:nvSpPr>
          <p:cNvPr id="3" name="Rectangle 2"/>
          <p:cNvSpPr/>
          <p:nvPr/>
        </p:nvSpPr>
        <p:spPr>
          <a:xfrm>
            <a:off x="530352" y="850392"/>
            <a:ext cx="960120" cy="54864"/>
          </a:xfrm>
          <a:prstGeom prst="rect">
            <a:avLst/>
          </a:prstGeom>
          <a:solidFill>
            <a:srgbClr val="0080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960120"/>
            <a:ext cx="11064240" cy="320040"/>
          </a:xfrm>
          <a:prstGeom prst="rect">
            <a:avLst/>
          </a:prstGeom>
          <a:noFill/>
        </p:spPr>
        <p:txBody>
          <a:bodyPr wrap="square" lIns="54864" rIns="54864" tIns="36576" bIns="18288">
            <a:spAutoFit/>
          </a:bodyPr>
          <a:lstStyle/>
          <a:p>
            <a:pPr>
              <a:defRPr sz="1100" b="0">
                <a:solidFill>
                  <a:srgbClr val="697582"/>
                </a:solidFill>
                <a:latin typeface="Aptos"/>
              </a:defRPr>
            </a:pPr>
            <a:r>
              <a:t>Example claim and AI question used to validate the workflow</a:t>
            </a:r>
          </a:p>
        </p:txBody>
      </p:sp>
      <p:sp>
        <p:nvSpPr>
          <p:cNvPr id="5" name="TextBox 4"/>
          <p:cNvSpPr txBox="1"/>
          <p:nvPr/>
        </p:nvSpPr>
        <p:spPr>
          <a:xfrm>
            <a:off x="11292840" y="6510528"/>
            <a:ext cx="365760" cy="182880"/>
          </a:xfrm>
          <a:prstGeom prst="rect">
            <a:avLst/>
          </a:prstGeom>
          <a:noFill/>
        </p:spPr>
        <p:txBody>
          <a:bodyPr wrap="square" lIns="54864" rIns="54864" tIns="36576" bIns="18288">
            <a:spAutoFit/>
          </a:bodyPr>
          <a:lstStyle/>
          <a:p>
            <a:pPr algn="r">
              <a:defRPr sz="900" b="0">
                <a:solidFill>
                  <a:srgbClr val="697582"/>
                </a:solidFill>
                <a:latin typeface="Aptos"/>
              </a:defRPr>
            </a:pPr>
            <a:r>
              <a:t>8</a:t>
            </a:r>
          </a:p>
        </p:txBody>
      </p:sp>
      <p:sp>
        <p:nvSpPr>
          <p:cNvPr id="6" name="Rounded Rectangle 5"/>
          <p:cNvSpPr/>
          <p:nvPr/>
        </p:nvSpPr>
        <p:spPr>
          <a:xfrm>
            <a:off x="640080" y="1463040"/>
            <a:ext cx="5303520" cy="1874519"/>
          </a:xfrm>
          <a:prstGeom prst="roundRect">
            <a:avLst/>
          </a:prstGeom>
          <a:solidFill>
            <a:srgbClr val="E8F2F8"/>
          </a:solidFill>
          <a:ln>
            <a:solidFill>
              <a:srgbClr val="E8F2F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91440"/>
          <a:lstStyle/>
          <a:p>
            <a:pPr algn="ctr">
              <a:spcAft>
                <a:spcPts val="700"/>
              </a:spcAft>
              <a:defRPr sz="1600" b="1">
                <a:solidFill>
                  <a:srgbClr val="14365C"/>
                </a:solidFill>
                <a:latin typeface="Aptos Display"/>
              </a:defRPr>
            </a:pPr>
            <a:r>
              <a:t>Claim scenario</a:t>
            </a:r>
          </a:p>
          <a:p>
            <a:pPr>
              <a:defRPr sz="1400">
                <a:solidFill>
                  <a:srgbClr val="2D3748"/>
                </a:solidFill>
                <a:latin typeface="Aptos"/>
              </a:defRPr>
            </a:pPr>
            <a:r>
              <a:t>Hospitalization for fever and viral infection, including doctor consultation, diagnostic tests, medicines, and treatment.</a:t>
            </a:r>
            <a:br/>
            <a:br/>
            <a:r>
              <a:t>Claimed amount: ₹25,000</a:t>
            </a:r>
            <a:br/>
            <a:r>
              <a:t>Status: UNDER_REVIEW</a:t>
            </a:r>
          </a:p>
        </p:txBody>
      </p:sp>
      <p:sp>
        <p:nvSpPr>
          <p:cNvPr id="7" name="Rounded Rectangle 6"/>
          <p:cNvSpPr/>
          <p:nvPr/>
        </p:nvSpPr>
        <p:spPr>
          <a:xfrm>
            <a:off x="6263640" y="1463040"/>
            <a:ext cx="5303520" cy="1874519"/>
          </a:xfrm>
          <a:prstGeom prst="roundRect">
            <a:avLst/>
          </a:prstGeom>
          <a:solidFill>
            <a:srgbClr val="DCEFE9"/>
          </a:solidFill>
          <a:ln>
            <a:solidFill>
              <a:srgbClr val="DCEFE9"/>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91440"/>
          <a:lstStyle/>
          <a:p>
            <a:pPr algn="ctr">
              <a:spcAft>
                <a:spcPts val="700"/>
              </a:spcAft>
              <a:defRPr sz="1500" b="1">
                <a:solidFill>
                  <a:srgbClr val="14365C"/>
                </a:solidFill>
                <a:latin typeface="Aptos Display"/>
              </a:defRPr>
            </a:pPr>
            <a:r>
              <a:t>AI/RAG question</a:t>
            </a:r>
          </a:p>
          <a:p>
            <a:pPr>
              <a:defRPr sz="1300">
                <a:solidFill>
                  <a:srgbClr val="2D3748"/>
                </a:solidFill>
                <a:latin typeface="Aptos"/>
              </a:defRPr>
            </a:pPr>
            <a:r>
              <a:t>“What documents should the adjuster verify to assess this hospitalization claim for fever and viral infection, and what policy conditions or exclusions should be checked before approving the claimed amount of ₹25,000?”</a:t>
            </a:r>
          </a:p>
        </p:txBody>
      </p:sp>
      <p:sp>
        <p:nvSpPr>
          <p:cNvPr id="8" name="TextBox 7"/>
          <p:cNvSpPr txBox="1"/>
          <p:nvPr/>
        </p:nvSpPr>
        <p:spPr>
          <a:xfrm>
            <a:off x="868680" y="3886200"/>
            <a:ext cx="10515600" cy="1645920"/>
          </a:xfrm>
          <a:prstGeom prst="rect">
            <a:avLst/>
          </a:prstGeom>
          <a:noFill/>
        </p:spPr>
        <p:txBody>
          <a:bodyPr wrap="square" lIns="73152" rIns="45720" tIns="36576">
            <a:spAutoFit/>
          </a:bodyPr>
          <a:lstStyle/>
          <a:p>
            <a:pPr>
              <a:spcAft>
                <a:spcPts val="900"/>
              </a:spcAft>
              <a:defRPr sz="1500">
                <a:solidFill>
                  <a:srgbClr val="2D3748"/>
                </a:solidFill>
                <a:latin typeface="Aptos"/>
              </a:defRPr>
            </a:pPr>
            <a:r>
              <a:t>The adjuster checks supporting medical records and applicable policy terms.</a:t>
            </a:r>
          </a:p>
          <a:p>
            <a:pPr>
              <a:spcAft>
                <a:spcPts val="900"/>
              </a:spcAft>
              <a:defRPr sz="1500">
                <a:solidFill>
                  <a:srgbClr val="2D3748"/>
                </a:solidFill>
                <a:latin typeface="Aptos"/>
              </a:defRPr>
            </a:pPr>
            <a:r>
              <a:t>The API workflow records assignment, status justification, and notes.</a:t>
            </a:r>
          </a:p>
          <a:p>
            <a:pPr>
              <a:spcAft>
                <a:spcPts val="900"/>
              </a:spcAft>
              <a:defRPr sz="1500">
                <a:solidFill>
                  <a:srgbClr val="2D3748"/>
                </a:solidFill>
                <a:latin typeface="Aptos"/>
              </a:defRPr>
            </a:pPr>
            <a:r>
              <a:t>The AI response is guidance based on retrieved policy content, not a final claim decision.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11155680" cy="475488"/>
          </a:xfrm>
          <a:prstGeom prst="rect">
            <a:avLst/>
          </a:prstGeom>
          <a:noFill/>
        </p:spPr>
        <p:txBody>
          <a:bodyPr wrap="square" lIns="54864" rIns="54864" tIns="36576" bIns="18288">
            <a:spAutoFit/>
          </a:bodyPr>
          <a:lstStyle/>
          <a:p>
            <a:pPr>
              <a:defRPr sz="2700" b="1">
                <a:solidFill>
                  <a:srgbClr val="14365C"/>
                </a:solidFill>
                <a:latin typeface="Aptos"/>
              </a:defRPr>
            </a:pPr>
            <a:r>
              <a:t>8. Benefits &amp; Scope</a:t>
            </a:r>
          </a:p>
        </p:txBody>
      </p:sp>
      <p:sp>
        <p:nvSpPr>
          <p:cNvPr id="3" name="Rectangle 2"/>
          <p:cNvSpPr/>
          <p:nvPr/>
        </p:nvSpPr>
        <p:spPr>
          <a:xfrm>
            <a:off x="530352" y="850392"/>
            <a:ext cx="960120" cy="54864"/>
          </a:xfrm>
          <a:prstGeom prst="rect">
            <a:avLst/>
          </a:prstGeom>
          <a:solidFill>
            <a:srgbClr val="0080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960120"/>
            <a:ext cx="11064240" cy="320040"/>
          </a:xfrm>
          <a:prstGeom prst="rect">
            <a:avLst/>
          </a:prstGeom>
          <a:noFill/>
        </p:spPr>
        <p:txBody>
          <a:bodyPr wrap="square" lIns="54864" rIns="54864" tIns="36576" bIns="18288">
            <a:spAutoFit/>
          </a:bodyPr>
          <a:lstStyle/>
          <a:p>
            <a:pPr>
              <a:defRPr sz="1100" b="0">
                <a:solidFill>
                  <a:srgbClr val="697582"/>
                </a:solidFill>
                <a:latin typeface="Aptos"/>
              </a:defRPr>
            </a:pPr>
            <a:r>
              <a:t>What the project demonstrates</a:t>
            </a:r>
          </a:p>
        </p:txBody>
      </p:sp>
      <p:sp>
        <p:nvSpPr>
          <p:cNvPr id="5" name="TextBox 4"/>
          <p:cNvSpPr txBox="1"/>
          <p:nvPr/>
        </p:nvSpPr>
        <p:spPr>
          <a:xfrm>
            <a:off x="11292840" y="6510528"/>
            <a:ext cx="365760" cy="182880"/>
          </a:xfrm>
          <a:prstGeom prst="rect">
            <a:avLst/>
          </a:prstGeom>
          <a:noFill/>
        </p:spPr>
        <p:txBody>
          <a:bodyPr wrap="square" lIns="54864" rIns="54864" tIns="36576" bIns="18288">
            <a:spAutoFit/>
          </a:bodyPr>
          <a:lstStyle/>
          <a:p>
            <a:pPr algn="r">
              <a:defRPr sz="900" b="0">
                <a:solidFill>
                  <a:srgbClr val="697582"/>
                </a:solidFill>
                <a:latin typeface="Aptos"/>
              </a:defRPr>
            </a:pPr>
            <a:r>
              <a:t>9</a:t>
            </a:r>
          </a:p>
        </p:txBody>
      </p:sp>
      <p:sp>
        <p:nvSpPr>
          <p:cNvPr id="6" name="Rounded Rectangle 5"/>
          <p:cNvSpPr/>
          <p:nvPr/>
        </p:nvSpPr>
        <p:spPr>
          <a:xfrm>
            <a:off x="640080" y="1508760"/>
            <a:ext cx="3474720" cy="1920240"/>
          </a:xfrm>
          <a:prstGeom prst="roundRect">
            <a:avLst/>
          </a:prstGeom>
          <a:solidFill>
            <a:srgbClr val="E8F2F8"/>
          </a:solidFill>
          <a:ln>
            <a:solidFill>
              <a:srgbClr val="E8F2F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91440"/>
          <a:lstStyle/>
          <a:p>
            <a:pPr algn="ctr">
              <a:spcAft>
                <a:spcPts val="700"/>
              </a:spcAft>
              <a:defRPr sz="1600" b="1">
                <a:solidFill>
                  <a:srgbClr val="14365C"/>
                </a:solidFill>
                <a:latin typeface="Aptos Display"/>
              </a:defRPr>
            </a:pPr>
            <a:r>
              <a:t>Workflow tracking</a:t>
            </a:r>
          </a:p>
          <a:p>
            <a:pPr>
              <a:defRPr sz="1400">
                <a:solidFill>
                  <a:srgbClr val="2D3748"/>
                </a:solidFill>
                <a:latin typeface="Aptos"/>
              </a:defRPr>
            </a:pPr>
            <a:r>
              <a:t>Structured claim creation, assignment, status history, and notes.</a:t>
            </a:r>
          </a:p>
        </p:txBody>
      </p:sp>
      <p:sp>
        <p:nvSpPr>
          <p:cNvPr id="7" name="Rounded Rectangle 6"/>
          <p:cNvSpPr/>
          <p:nvPr/>
        </p:nvSpPr>
        <p:spPr>
          <a:xfrm>
            <a:off x="4389120" y="1508760"/>
            <a:ext cx="3474720" cy="1920240"/>
          </a:xfrm>
          <a:prstGeom prst="roundRect">
            <a:avLst/>
          </a:prstGeom>
          <a:solidFill>
            <a:srgbClr val="DCEFE9"/>
          </a:solidFill>
          <a:ln>
            <a:solidFill>
              <a:srgbClr val="DCEFE9"/>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91440"/>
          <a:lstStyle/>
          <a:p>
            <a:pPr algn="ctr">
              <a:spcAft>
                <a:spcPts val="700"/>
              </a:spcAft>
              <a:defRPr sz="1600" b="1">
                <a:solidFill>
                  <a:srgbClr val="14365C"/>
                </a:solidFill>
                <a:latin typeface="Aptos Display"/>
              </a:defRPr>
            </a:pPr>
            <a:r>
              <a:t>Policy retrieval</a:t>
            </a:r>
          </a:p>
          <a:p>
            <a:pPr>
              <a:defRPr sz="1400">
                <a:solidFill>
                  <a:srgbClr val="2D3748"/>
                </a:solidFill>
                <a:latin typeface="Aptos"/>
              </a:defRPr>
            </a:pPr>
            <a:r>
              <a:t>Searches processed policy text to support evidence-based review.</a:t>
            </a:r>
          </a:p>
        </p:txBody>
      </p:sp>
      <p:sp>
        <p:nvSpPr>
          <p:cNvPr id="8" name="Rounded Rectangle 7"/>
          <p:cNvSpPr/>
          <p:nvPr/>
        </p:nvSpPr>
        <p:spPr>
          <a:xfrm>
            <a:off x="8138160" y="1508760"/>
            <a:ext cx="3474720" cy="1920240"/>
          </a:xfrm>
          <a:prstGeom prst="roundRect">
            <a:avLst/>
          </a:prstGeom>
          <a:solidFill>
            <a:srgbClr val="FAEDCD"/>
          </a:solidFill>
          <a:ln>
            <a:solidFill>
              <a:srgbClr val="FAEDCD"/>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bIns="91440"/>
          <a:lstStyle/>
          <a:p>
            <a:pPr algn="ctr">
              <a:spcAft>
                <a:spcPts val="700"/>
              </a:spcAft>
              <a:defRPr sz="1600" b="1">
                <a:solidFill>
                  <a:srgbClr val="14365C"/>
                </a:solidFill>
                <a:latin typeface="Aptos Display"/>
              </a:defRPr>
            </a:pPr>
            <a:r>
              <a:t>Traceability</a:t>
            </a:r>
          </a:p>
          <a:p>
            <a:pPr>
              <a:defRPr sz="1400">
                <a:solidFill>
                  <a:srgbClr val="2D3748"/>
                </a:solidFill>
                <a:latin typeface="Aptos"/>
              </a:defRPr>
            </a:pPr>
            <a:r>
              <a:t>Database records and logs help support review and troubleshooting.</a:t>
            </a:r>
          </a:p>
        </p:txBody>
      </p:sp>
      <p:sp>
        <p:nvSpPr>
          <p:cNvPr id="9" name="TextBox 8"/>
          <p:cNvSpPr txBox="1"/>
          <p:nvPr/>
        </p:nvSpPr>
        <p:spPr>
          <a:xfrm>
            <a:off x="868680" y="4069080"/>
            <a:ext cx="10515600" cy="1463040"/>
          </a:xfrm>
          <a:prstGeom prst="rect">
            <a:avLst/>
          </a:prstGeom>
          <a:noFill/>
        </p:spPr>
        <p:txBody>
          <a:bodyPr wrap="square" lIns="73152" rIns="45720" tIns="36576">
            <a:spAutoFit/>
          </a:bodyPr>
          <a:lstStyle/>
          <a:p>
            <a:pPr>
              <a:spcAft>
                <a:spcPts val="1000"/>
              </a:spcAft>
              <a:defRPr sz="1500">
                <a:solidFill>
                  <a:srgbClr val="2D3748"/>
                </a:solidFill>
                <a:latin typeface="Aptos"/>
              </a:defRPr>
            </a:pPr>
            <a:r>
              <a:t>Policy documents must be uploaded and processed before their content is available to RAG.</a:t>
            </a:r>
          </a:p>
          <a:p>
            <a:pPr>
              <a:spcAft>
                <a:spcPts val="1000"/>
              </a:spcAft>
              <a:defRPr sz="1500">
                <a:solidFill>
                  <a:srgbClr val="2D3748"/>
                </a:solidFill>
                <a:latin typeface="Aptos"/>
              </a:defRPr>
            </a:pPr>
            <a:r>
              <a:t>Access to analytics and claim operations depends on authentication and authorization.</a:t>
            </a:r>
          </a:p>
          <a:p>
            <a:pPr>
              <a:spcAft>
                <a:spcPts val="1000"/>
              </a:spcAft>
              <a:defRPr sz="1500">
                <a:solidFill>
                  <a:srgbClr val="2D3748"/>
                </a:solidFill>
                <a:latin typeface="Aptos"/>
              </a:defRPr>
            </a:pPr>
            <a:r>
              <a:t>AI outputs should be reviewed against the actual policy and claim evidence.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4365C"/>
        </a:solidFill>
        <a:effectLst/>
      </p:bgPr>
    </p:bg>
    <p:spTree>
      <p:nvGrpSpPr>
        <p:cNvPr id="1" name=""/>
        <p:cNvGrpSpPr/>
        <p:nvPr/>
      </p:nvGrpSpPr>
      <p:grpSpPr/>
      <p:sp>
        <p:nvSpPr>
          <p:cNvPr id="2" name="TextBox 1"/>
          <p:cNvSpPr txBox="1"/>
          <p:nvPr/>
        </p:nvSpPr>
        <p:spPr>
          <a:xfrm>
            <a:off x="822960" y="1280160"/>
            <a:ext cx="10515600" cy="731520"/>
          </a:xfrm>
          <a:prstGeom prst="rect">
            <a:avLst/>
          </a:prstGeom>
          <a:noFill/>
        </p:spPr>
        <p:txBody>
          <a:bodyPr wrap="square" lIns="54864" rIns="54864" tIns="36576" bIns="18288">
            <a:spAutoFit/>
          </a:bodyPr>
          <a:lstStyle/>
          <a:p>
            <a:pPr algn="ctr">
              <a:defRPr sz="3400" b="1">
                <a:solidFill>
                  <a:srgbClr val="FFFFFF"/>
                </a:solidFill>
                <a:latin typeface="Aptos"/>
              </a:defRPr>
            </a:pPr>
            <a:r>
              <a:t>Thank You</a:t>
            </a:r>
          </a:p>
        </p:txBody>
      </p:sp>
      <p:sp>
        <p:nvSpPr>
          <p:cNvPr id="3" name="TextBox 2"/>
          <p:cNvSpPr txBox="1"/>
          <p:nvPr/>
        </p:nvSpPr>
        <p:spPr>
          <a:xfrm>
            <a:off x="1280160" y="2240280"/>
            <a:ext cx="9601200" cy="640080"/>
          </a:xfrm>
          <a:prstGeom prst="rect">
            <a:avLst/>
          </a:prstGeom>
          <a:noFill/>
        </p:spPr>
        <p:txBody>
          <a:bodyPr wrap="square" lIns="54864" rIns="54864" tIns="36576" bIns="18288">
            <a:spAutoFit/>
          </a:bodyPr>
          <a:lstStyle/>
          <a:p>
            <a:pPr algn="ctr">
              <a:defRPr sz="2400" b="1">
                <a:solidFill>
                  <a:srgbClr val="C6E2EE"/>
                </a:solidFill>
                <a:latin typeface="Aptos"/>
              </a:defRPr>
            </a:pPr>
            <a:r>
              <a:t>ClaimIQ</a:t>
            </a:r>
          </a:p>
        </p:txBody>
      </p:sp>
      <p:sp>
        <p:nvSpPr>
          <p:cNvPr id="4" name="TextBox 3"/>
          <p:cNvSpPr txBox="1"/>
          <p:nvPr/>
        </p:nvSpPr>
        <p:spPr>
          <a:xfrm>
            <a:off x="1371600" y="3017520"/>
            <a:ext cx="9418320" cy="731520"/>
          </a:xfrm>
          <a:prstGeom prst="rect">
            <a:avLst/>
          </a:prstGeom>
          <a:noFill/>
        </p:spPr>
        <p:txBody>
          <a:bodyPr wrap="square" lIns="54864" rIns="54864" tIns="36576" bIns="18288">
            <a:spAutoFit/>
          </a:bodyPr>
          <a:lstStyle/>
          <a:p>
            <a:pPr algn="ctr">
              <a:defRPr sz="1800" b="0">
                <a:solidFill>
                  <a:srgbClr val="FFFFFF"/>
                </a:solidFill>
                <a:latin typeface="Aptos"/>
              </a:defRPr>
            </a:pPr>
            <a:r>
              <a:t>Claims Management + AI-Assisted Policy Search</a:t>
            </a:r>
          </a:p>
        </p:txBody>
      </p:sp>
      <p:sp>
        <p:nvSpPr>
          <p:cNvPr id="5" name="TextBox 4"/>
          <p:cNvSpPr txBox="1"/>
          <p:nvPr/>
        </p:nvSpPr>
        <p:spPr>
          <a:xfrm>
            <a:off x="1097280" y="4937760"/>
            <a:ext cx="9966960" cy="640080"/>
          </a:xfrm>
          <a:prstGeom prst="rect">
            <a:avLst/>
          </a:prstGeom>
          <a:noFill/>
        </p:spPr>
        <p:txBody>
          <a:bodyPr wrap="square" lIns="54864" rIns="54864" tIns="36576" bIns="18288">
            <a:spAutoFit/>
          </a:bodyPr>
          <a:lstStyle/>
          <a:p>
            <a:pPr algn="ctr">
              <a:defRPr sz="1600" b="1">
                <a:solidFill>
                  <a:srgbClr val="FFFFFF"/>
                </a:solidFill>
                <a:latin typeface="Aptos"/>
              </a:defRPr>
            </a:pPr>
            <a:r>
              <a:t>Praneetha  |  Segu  |  Tasmiya  |  Karthik</a:t>
            </a:r>
          </a:p>
        </p:txBody>
      </p:sp>
      <p:sp>
        <p:nvSpPr>
          <p:cNvPr id="6" name="TextBox 5"/>
          <p:cNvSpPr txBox="1"/>
          <p:nvPr/>
        </p:nvSpPr>
        <p:spPr>
          <a:xfrm>
            <a:off x="1097280" y="6172200"/>
            <a:ext cx="9966960" cy="274320"/>
          </a:xfrm>
          <a:prstGeom prst="rect">
            <a:avLst/>
          </a:prstGeom>
          <a:noFill/>
        </p:spPr>
        <p:txBody>
          <a:bodyPr wrap="square" lIns="54864" rIns="54864" tIns="36576" bIns="18288">
            <a:spAutoFit/>
          </a:bodyPr>
          <a:lstStyle/>
          <a:p>
            <a:pPr algn="ctr">
              <a:defRPr sz="1200" b="0">
                <a:solidFill>
                  <a:srgbClr val="C6E2EE"/>
                </a:solidFill>
                <a:latin typeface="Aptos"/>
              </a:defRPr>
            </a:pPr>
            <a:r>
              <a:t>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ClaimIQ 10-Minute Project Presentation</dc:title>
  <dc:subject>Claims Management and AI-Assisted Policy Search</dc:subject>
  <dc:creator>ClaimIQ Project Team</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